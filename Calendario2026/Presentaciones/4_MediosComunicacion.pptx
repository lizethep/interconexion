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12.JPG" ContentType="image/jpe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15.jpg" ContentType="image/jpeg"/>
  <Override PartName="/ppt/notesSlides/notesSlide8.xml" ContentType="application/vnd.openxmlformats-officedocument.presentationml.notesSlide+xml"/>
  <Override PartName="/ppt/media/image16.jpg" ContentType="image/jpeg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media/image34.jpg" ContentType="image/jpeg"/>
  <Override PartName="/ppt/media/image36.jpg" ContentType="image/jpe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7" r:id="rId2"/>
    <p:sldId id="460" r:id="rId3"/>
    <p:sldId id="803" r:id="rId4"/>
    <p:sldId id="817" r:id="rId5"/>
    <p:sldId id="853" r:id="rId6"/>
    <p:sldId id="807" r:id="rId7"/>
    <p:sldId id="818" r:id="rId8"/>
    <p:sldId id="804" r:id="rId9"/>
    <p:sldId id="819" r:id="rId10"/>
    <p:sldId id="805" r:id="rId11"/>
    <p:sldId id="806" r:id="rId12"/>
    <p:sldId id="820" r:id="rId13"/>
    <p:sldId id="833" r:id="rId14"/>
    <p:sldId id="808" r:id="rId15"/>
    <p:sldId id="855" r:id="rId16"/>
    <p:sldId id="856" r:id="rId17"/>
    <p:sldId id="823" r:id="rId18"/>
    <p:sldId id="824" r:id="rId19"/>
    <p:sldId id="835" r:id="rId20"/>
    <p:sldId id="291" r:id="rId21"/>
    <p:sldId id="292" r:id="rId22"/>
    <p:sldId id="295" r:id="rId23"/>
    <p:sldId id="297" r:id="rId24"/>
    <p:sldId id="846" r:id="rId25"/>
    <p:sldId id="844" r:id="rId26"/>
    <p:sldId id="845" r:id="rId27"/>
    <p:sldId id="847" r:id="rId28"/>
    <p:sldId id="852" r:id="rId29"/>
  </p:sldIdLst>
  <p:sldSz cx="9144000" cy="6858000" type="screen4x3"/>
  <p:notesSz cx="7023100" cy="93091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1B33C2-C728-4C53-BD6E-E9E8AD0C93B2}" v="4" dt="2026-02-10T21:48:06.1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2" autoAdjust="0"/>
    <p:restoredTop sz="93250" autoAdjust="0"/>
  </p:normalViewPr>
  <p:slideViewPr>
    <p:cSldViewPr>
      <p:cViewPr varScale="1">
        <p:scale>
          <a:sx n="115" d="100"/>
          <a:sy n="115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2-10T21:48:06.114" v="3"/>
      <pc:docMkLst>
        <pc:docMk/>
      </pc:docMkLst>
      <pc:sldChg chg="modAnim">
        <pc:chgData name="Lizethe Pérez Fuertes" userId="4ae9ef87-2a7d-42f8-8dfa-0a501a9e2ff4" providerId="ADAL" clId="{FDDD45CB-1330-4033-A842-3D2746AFF7C7}" dt="2026-02-10T21:48:06.114" v="3"/>
        <pc:sldMkLst>
          <pc:docMk/>
          <pc:sldMk cId="3935255247" sldId="85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2612" tIns="46306" rIns="92612" bIns="46306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2612" tIns="46306" rIns="92612" bIns="46306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10/02/2026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12" tIns="46306" rIns="92612" bIns="46306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2310" y="4421823"/>
            <a:ext cx="5618480" cy="4189095"/>
          </a:xfrm>
          <a:prstGeom prst="rect">
            <a:avLst/>
          </a:prstGeom>
        </p:spPr>
        <p:txBody>
          <a:bodyPr vert="horz" lIns="92612" tIns="46306" rIns="92612" bIns="46306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5455"/>
          </a:xfrm>
          <a:prstGeom prst="rect">
            <a:avLst/>
          </a:prstGeom>
        </p:spPr>
        <p:txBody>
          <a:bodyPr vert="horz" lIns="92612" tIns="46306" rIns="92612" bIns="46306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5455"/>
          </a:xfrm>
          <a:prstGeom prst="rect">
            <a:avLst/>
          </a:prstGeom>
        </p:spPr>
        <p:txBody>
          <a:bodyPr vert="horz" lIns="92612" tIns="46306" rIns="92612" bIns="46306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5425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51507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1867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89547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547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067226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99460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1 Marcador de imagen de diapositiva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2 Marcador de notas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s-MX" altLang="es-MX"/>
          </a:p>
        </p:txBody>
      </p:sp>
      <p:sp>
        <p:nvSpPr>
          <p:cNvPr id="30724" name="3 Marcador de número de diapositiva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55883865-B5BE-41C1-8BB6-8B6E13F3A620}" type="slidenum">
              <a:rPr lang="es-MX" altLang="es-MX" sz="1200" smtClean="0"/>
              <a:pPr/>
              <a:t>23</a:t>
            </a:fld>
            <a:endParaRPr lang="es-MX" altLang="es-MX" sz="1200"/>
          </a:p>
        </p:txBody>
      </p:sp>
    </p:spTree>
    <p:extLst>
      <p:ext uri="{BB962C8B-B14F-4D97-AF65-F5344CB8AC3E}">
        <p14:creationId xmlns:p14="http://schemas.microsoft.com/office/powerpoint/2010/main" val="4388007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81155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21444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79573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8754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10/02/2026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10/02/2026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10/02/2026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10/02/2026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10/02/2026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10/02/2026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10/02/2026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10/02/2026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10/02/2026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10/02/2026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10/02/2026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6605684"/>
            <a:ext cx="676910" cy="252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‹Nº›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1065260"/>
            <a:ext cx="8853286" cy="55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>
                <a:sym typeface="Arial" pitchFamily="34" charset="0"/>
              </a:rPr>
              <a:t>Third level</a:t>
            </a:r>
          </a:p>
          <a:p>
            <a:pPr lvl="3"/>
            <a:r>
              <a:rPr lang="en-US" dirty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55191"/>
            <a:ext cx="9144000" cy="1010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4289048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10/02/2026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5840" y="620688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2006B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Interconexión de dispositivos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76463"/>
            <a:ext cx="6400800" cy="12492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Medios de comunicación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ITESM Campus Querétaro</a:t>
            </a:r>
          </a:p>
        </p:txBody>
      </p:sp>
      <p:pic>
        <p:nvPicPr>
          <p:cNvPr id="6" name="Imagen 5" descr="Imagen que contiene objeto, computadora, reloj, computer&#10;&#10;Descripción generada automáticamente">
            <a:extLst>
              <a:ext uri="{FF2B5EF4-FFF2-40B4-BE49-F238E27FC236}">
                <a16:creationId xmlns:a16="http://schemas.microsoft.com/office/drawing/2014/main" id="{312AF659-87F7-4323-AB61-3C55089583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3625751"/>
            <a:ext cx="5775530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802481" y="332656"/>
            <a:ext cx="75390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Agenda de esta sesión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C1718B89-3B0B-4193-9832-4821A226FF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1748973"/>
            <a:ext cx="3528392" cy="1524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41300" indent="-228600">
              <a:lnSpc>
                <a:spcPct val="150000"/>
              </a:lnSpc>
              <a:buClr>
                <a:srgbClr val="454551"/>
              </a:buClr>
              <a:buFont typeface="Arial"/>
              <a:buChar char="•"/>
              <a:tabLst>
                <a:tab pos="241300" algn="l"/>
              </a:tabLst>
            </a:pP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Medios guiados y no guiados</a:t>
            </a:r>
            <a:r>
              <a:rPr lang="es-ES" sz="1600" spc="-15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41300" indent="-228600">
              <a:lnSpc>
                <a:spcPct val="150000"/>
              </a:lnSpc>
              <a:buClr>
                <a:srgbClr val="454551"/>
              </a:buClr>
              <a:buFont typeface="Arial"/>
              <a:buChar char="•"/>
              <a:tabLst>
                <a:tab pos="241300" algn="l"/>
              </a:tabLst>
            </a:pP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Medios de cobre.</a:t>
            </a:r>
          </a:p>
          <a:p>
            <a:pPr marL="241300" indent="-228600">
              <a:lnSpc>
                <a:spcPct val="150000"/>
              </a:lnSpc>
              <a:buClr>
                <a:srgbClr val="454551"/>
              </a:buClr>
              <a:buFont typeface="Arial"/>
              <a:buChar char="•"/>
              <a:tabLst>
                <a:tab pos="241300" algn="l"/>
              </a:tabLst>
            </a:pP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Medios ópticos.</a:t>
            </a:r>
          </a:p>
          <a:p>
            <a:pPr marL="241300" indent="-228600">
              <a:lnSpc>
                <a:spcPct val="150000"/>
              </a:lnSpc>
              <a:buClr>
                <a:srgbClr val="454551"/>
              </a:buClr>
              <a:buFont typeface="Arial"/>
              <a:buChar char="•"/>
              <a:tabLst>
                <a:tab pos="241300" algn="l"/>
              </a:tabLst>
            </a:pPr>
            <a:r>
              <a:rPr lang="es-ES" sz="1600" spc="-20" dirty="0">
                <a:latin typeface="Arial" panose="020B0604020202020204" pitchFamily="34" charset="0"/>
                <a:cs typeface="Arial" panose="020B0604020202020204" pitchFamily="34" charset="0"/>
              </a:rPr>
              <a:t>Medios inalámbricos.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 descr="Imagen que contiene objeto, computadora, reloj, computer&#10;&#10;Descripción generada automáticamente">
            <a:extLst>
              <a:ext uri="{FF2B5EF4-FFF2-40B4-BE49-F238E27FC236}">
                <a16:creationId xmlns:a16="http://schemas.microsoft.com/office/drawing/2014/main" id="{7E54ADF8-CBCD-4F02-B82D-E430AEE7B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2" y="2949302"/>
            <a:ext cx="4736418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6646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23 Imagen" descr="cable1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5" y="1769393"/>
            <a:ext cx="1857375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928688" y="1340768"/>
            <a:ext cx="7000875" cy="456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sz="1800" dirty="0">
                <a:latin typeface="ZapfHumnst BT"/>
              </a:rPr>
              <a:t>  </a:t>
            </a: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Medios de comunicación que utilizan líneas físicas (guiados)</a:t>
            </a:r>
          </a:p>
        </p:txBody>
      </p:sp>
      <p:sp>
        <p:nvSpPr>
          <p:cNvPr id="16" name="15 CuadroTexto"/>
          <p:cNvSpPr txBox="1"/>
          <p:nvPr/>
        </p:nvSpPr>
        <p:spPr>
          <a:xfrm>
            <a:off x="1357313" y="1983706"/>
            <a:ext cx="3643312" cy="131112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286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l"/>
              <a:defRPr/>
            </a:pP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Par trenzado ( UTP /STP)</a:t>
            </a:r>
          </a:p>
          <a:p>
            <a:pPr marL="2286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l"/>
              <a:defRPr/>
            </a:pP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Cable coaxial</a:t>
            </a:r>
          </a:p>
          <a:p>
            <a:pPr marL="2286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l"/>
              <a:defRPr/>
            </a:pP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Fibra óptica</a:t>
            </a:r>
          </a:p>
          <a:p>
            <a:pPr>
              <a:defRPr/>
            </a:pPr>
            <a:endParaRPr lang="es-MX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928688" y="3437856"/>
            <a:ext cx="7000875" cy="456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sz="1800" dirty="0">
                <a:latin typeface="ZapfHumnst BT"/>
              </a:rPr>
              <a:t>  </a:t>
            </a: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Medios de comunicación inalámbricos (no guiados)</a:t>
            </a:r>
          </a:p>
        </p:txBody>
      </p:sp>
      <p:sp>
        <p:nvSpPr>
          <p:cNvPr id="18" name="17 CuadroTexto"/>
          <p:cNvSpPr txBox="1"/>
          <p:nvPr/>
        </p:nvSpPr>
        <p:spPr>
          <a:xfrm>
            <a:off x="1357313" y="4080793"/>
            <a:ext cx="3643312" cy="10341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286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l"/>
              <a:defRPr/>
            </a:pPr>
            <a:r>
              <a:rPr lang="es-ES_tradnl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Ondas de radio</a:t>
            </a:r>
            <a:endParaRPr lang="es-ES_tradnl" sz="1800" dirty="0">
              <a:solidFill>
                <a:schemeClr val="bg2">
                  <a:lumMod val="25000"/>
                </a:schemeClr>
              </a:solidFill>
              <a:latin typeface="ZapfHumnst BT"/>
            </a:endParaRPr>
          </a:p>
          <a:p>
            <a:pPr marL="2286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l"/>
              <a:defRPr/>
            </a:pP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Microondas</a:t>
            </a:r>
          </a:p>
          <a:p>
            <a:pPr marL="2286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l"/>
              <a:defRPr/>
            </a:pPr>
            <a:r>
              <a:rPr lang="es-ES_tradnl" sz="18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Satélite</a:t>
            </a:r>
            <a:endParaRPr lang="es-MX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5369" name="6 Imagen" descr="ofice9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188" y="3983956"/>
            <a:ext cx="1973262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07504" y="125760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de comunicación</a:t>
            </a:r>
          </a:p>
        </p:txBody>
      </p:sp>
    </p:spTree>
    <p:extLst>
      <p:ext uri="{BB962C8B-B14F-4D97-AF65-F5344CB8AC3E}">
        <p14:creationId xmlns:p14="http://schemas.microsoft.com/office/powerpoint/2010/main" val="2161632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6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89756" y="188640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de comunicación</a:t>
            </a:r>
          </a:p>
        </p:txBody>
      </p:sp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8D48D18B-B2B2-4A0F-9636-200ABBD9B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34019"/>
              </p:ext>
            </p:extLst>
          </p:nvPr>
        </p:nvGraphicFramePr>
        <p:xfrm>
          <a:off x="1619673" y="1710734"/>
          <a:ext cx="5904656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5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8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859790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24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DIO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OS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object 4">
            <a:extLst>
              <a:ext uri="{FF2B5EF4-FFF2-40B4-BE49-F238E27FC236}">
                <a16:creationId xmlns:a16="http://schemas.microsoft.com/office/drawing/2014/main" id="{CCE185B3-33B5-4E32-AA80-EEBA18F5F3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168999"/>
              </p:ext>
            </p:extLst>
          </p:nvPr>
        </p:nvGraphicFramePr>
        <p:xfrm>
          <a:off x="1629617" y="2306885"/>
          <a:ext cx="5904656" cy="11887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9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5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8719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O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BR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49250" indent="-286385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349885" algn="l"/>
                        </a:tabLst>
                      </a:pPr>
                      <a:r>
                        <a:rPr sz="1800" spc="-5" dirty="0" err="1">
                          <a:latin typeface="Calibri"/>
                          <a:cs typeface="Calibri"/>
                        </a:rPr>
                        <a:t>Se</a:t>
                      </a:r>
                      <a:r>
                        <a:rPr sz="1800" spc="5" dirty="0" err="1">
                          <a:latin typeface="Calibri"/>
                          <a:cs typeface="Calibri"/>
                        </a:rPr>
                        <a:t>ñ</a:t>
                      </a:r>
                      <a:r>
                        <a:rPr sz="1800" dirty="0" err="1">
                          <a:latin typeface="Calibri"/>
                          <a:cs typeface="Calibri"/>
                        </a:rPr>
                        <a:t>ales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s-ES" sz="1800" spc="5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10" dirty="0" err="1">
                          <a:latin typeface="Calibri"/>
                          <a:cs typeface="Calibri"/>
                        </a:rPr>
                        <a:t>l</a:t>
                      </a:r>
                      <a:r>
                        <a:rPr sz="1800" dirty="0" err="1">
                          <a:latin typeface="Calibri"/>
                          <a:cs typeface="Calibri"/>
                        </a:rPr>
                        <a:t>éct</a:t>
                      </a:r>
                      <a:r>
                        <a:rPr sz="1800" spc="-10" dirty="0" err="1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spc="-5" dirty="0" err="1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20" dirty="0" err="1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dirty="0" err="1">
                          <a:latin typeface="Calibri"/>
                          <a:cs typeface="Calibri"/>
                        </a:rPr>
                        <a:t>as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9885" indent="-28702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350520" algn="l"/>
                        </a:tabLst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Co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xi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al</a:t>
                      </a:r>
                    </a:p>
                    <a:p>
                      <a:pPr marL="349885" indent="-28702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35052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U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-240" dirty="0">
                          <a:latin typeface="Calibri"/>
                          <a:cs typeface="Calibri"/>
                        </a:rPr>
                        <a:t>P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49885" indent="-28702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350520" algn="l"/>
                        </a:tabLst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-235" dirty="0">
                          <a:latin typeface="Calibri"/>
                          <a:cs typeface="Calibri"/>
                        </a:rPr>
                        <a:t>P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66DDEAFC-590B-4AB9-89EA-726E18437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964815"/>
              </p:ext>
            </p:extLst>
          </p:nvPr>
        </p:nvGraphicFramePr>
        <p:xfrm>
          <a:off x="1619673" y="3647739"/>
          <a:ext cx="5904656" cy="664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9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5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4945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FIB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 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ÓPTICA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49250" indent="-286385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34988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Impulsos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uz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9885" indent="-28702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350520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Mu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moda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l</a:t>
                      </a:r>
                      <a:endParaRPr lang="es-ES" sz="1800" dirty="0">
                        <a:latin typeface="Calibri"/>
                        <a:cs typeface="Calibri"/>
                      </a:endParaRPr>
                    </a:p>
                    <a:p>
                      <a:pPr marL="349885" indent="-28702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350520" algn="l"/>
                        </a:tabLst>
                      </a:pPr>
                      <a:r>
                        <a:rPr sz="1800" dirty="0" err="1">
                          <a:latin typeface="Calibri"/>
                          <a:cs typeface="Calibri"/>
                        </a:rPr>
                        <a:t>Monomodo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object 6">
            <a:extLst>
              <a:ext uri="{FF2B5EF4-FFF2-40B4-BE49-F238E27FC236}">
                <a16:creationId xmlns:a16="http://schemas.microsoft.com/office/drawing/2014/main" id="{011C8765-6398-4036-9656-2B97EF043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875396"/>
              </p:ext>
            </p:extLst>
          </p:nvPr>
        </p:nvGraphicFramePr>
        <p:xfrm>
          <a:off x="1619672" y="4552590"/>
          <a:ext cx="5904656" cy="1240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9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5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40205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INALÁMB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49250" indent="-286385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349885" algn="l"/>
                        </a:tabLst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Onda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d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adio</a:t>
                      </a:r>
                    </a:p>
                    <a:p>
                      <a:pPr marL="349250" indent="-286385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349885" algn="l"/>
                        </a:tabLst>
                      </a:pPr>
                      <a:r>
                        <a:rPr sz="1800" dirty="0" err="1">
                          <a:latin typeface="Calibri"/>
                          <a:cs typeface="Calibri"/>
                        </a:rPr>
                        <a:t>M</a:t>
                      </a:r>
                      <a:r>
                        <a:rPr sz="1800" spc="-10" dirty="0" err="1">
                          <a:latin typeface="Calibri"/>
                          <a:cs typeface="Calibri"/>
                        </a:rPr>
                        <a:t>ic</a:t>
                      </a:r>
                      <a:r>
                        <a:rPr sz="1800" spc="-30" dirty="0" err="1">
                          <a:latin typeface="Calibri"/>
                          <a:cs typeface="Calibri"/>
                        </a:rPr>
                        <a:t>r</a:t>
                      </a:r>
                      <a:r>
                        <a:rPr sz="1800" spc="-5" dirty="0" err="1">
                          <a:latin typeface="Calibri"/>
                          <a:cs typeface="Calibri"/>
                        </a:rPr>
                        <a:t>oond</a:t>
                      </a:r>
                      <a:r>
                        <a:rPr sz="1800" spc="5" dirty="0" err="1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5" dirty="0" err="1">
                          <a:latin typeface="Calibri"/>
                          <a:cs typeface="Calibri"/>
                        </a:rPr>
                        <a:t>s</a:t>
                      </a:r>
                      <a:endParaRPr lang="es-ES" sz="1800" spc="-5" dirty="0">
                        <a:latin typeface="Calibri"/>
                        <a:cs typeface="Calibri"/>
                      </a:endParaRPr>
                    </a:p>
                    <a:p>
                      <a:pPr marL="349250" indent="-286385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349885" algn="l"/>
                        </a:tabLst>
                      </a:pPr>
                      <a:r>
                        <a:rPr lang="es-MX" sz="1800" spc="-5" dirty="0">
                          <a:latin typeface="Calibri"/>
                          <a:cs typeface="Calibri"/>
                        </a:rPr>
                        <a:t>Satélite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9885" indent="-287020">
                        <a:lnSpc>
                          <a:spcPct val="100000"/>
                        </a:lnSpc>
                        <a:buFont typeface="Arial"/>
                        <a:buChar char="•"/>
                        <a:tabLst>
                          <a:tab pos="350520" algn="l"/>
                        </a:tabLst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WLA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–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F</a:t>
                      </a:r>
                      <a:r>
                        <a:rPr lang="es-MX" sz="1800" spc="-5" dirty="0">
                          <a:latin typeface="Calibri"/>
                          <a:cs typeface="Calibri"/>
                        </a:rPr>
                        <a:t>i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49885" indent="-287020">
                        <a:lnSpc>
                          <a:spcPct val="100000"/>
                        </a:lnSpc>
                        <a:spcBef>
                          <a:spcPts val="1080"/>
                        </a:spcBef>
                        <a:buFont typeface="Arial"/>
                        <a:buChar char="•"/>
                        <a:tabLst>
                          <a:tab pos="350520" algn="l"/>
                        </a:tabLst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1800" spc="-140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 – Blu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ooth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  <a:p>
                      <a:pPr marL="349885" indent="-287020">
                        <a:lnSpc>
                          <a:spcPct val="100000"/>
                        </a:lnSpc>
                        <a:spcBef>
                          <a:spcPts val="1080"/>
                        </a:spcBef>
                        <a:buFont typeface="Arial"/>
                        <a:buChar char="•"/>
                        <a:tabLst>
                          <a:tab pos="350520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W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8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– 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él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800" spc="5" dirty="0">
                          <a:latin typeface="Calibri"/>
                          <a:cs typeface="Calibri"/>
                        </a:rPr>
                        <a:t>s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 err="1">
                          <a:latin typeface="Calibri"/>
                          <a:cs typeface="Calibri"/>
                        </a:rPr>
                        <a:t>Wi</a:t>
                      </a:r>
                      <a:r>
                        <a:rPr sz="1800" dirty="0" err="1">
                          <a:latin typeface="Calibri"/>
                          <a:cs typeface="Calibri"/>
                        </a:rPr>
                        <a:t>M</a:t>
                      </a:r>
                      <a:r>
                        <a:rPr sz="1800" spc="-15" dirty="0" err="1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5" dirty="0" err="1">
                          <a:latin typeface="Calibri"/>
                          <a:cs typeface="Calibri"/>
                        </a:rPr>
                        <a:t>x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0" marB="0" anchor="ctr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7388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89756" y="116632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de comunicación</a:t>
            </a:r>
          </a:p>
          <a:p>
            <a:pPr>
              <a:defRPr/>
            </a:pPr>
            <a:r>
              <a:rPr lang="es-ES_tradnl" sz="20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Formatos básicos de medios de red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6D82E12-EF26-4221-888B-AB821867D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83768" y="1412776"/>
            <a:ext cx="5209462" cy="4620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F71473C-1DAE-42CA-9EDE-DF0DEEF46D86}"/>
              </a:ext>
            </a:extLst>
          </p:cNvPr>
          <p:cNvSpPr txBox="1"/>
          <p:nvPr/>
        </p:nvSpPr>
        <p:spPr>
          <a:xfrm>
            <a:off x="6300192" y="4869160"/>
            <a:ext cx="1224136" cy="86177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MX" sz="1000" b="1" dirty="0">
                <a:latin typeface="Arial" panose="020B0604020202020204" pitchFamily="34" charset="0"/>
                <a:cs typeface="Arial" panose="020B0604020202020204" pitchFamily="34" charset="0"/>
              </a:rPr>
              <a:t>Señales de ondas de radio o microondas</a:t>
            </a:r>
            <a:r>
              <a:rPr lang="es-MX" sz="1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s-MX" sz="1000" dirty="0">
                <a:latin typeface="Arial" panose="020B0604020202020204" pitchFamily="34" charset="0"/>
                <a:cs typeface="Arial" panose="020B0604020202020204" pitchFamily="34" charset="0"/>
              </a:rPr>
              <a:t>tecnología inalámbrica</a:t>
            </a:r>
          </a:p>
        </p:txBody>
      </p:sp>
    </p:spTree>
    <p:extLst>
      <p:ext uri="{BB962C8B-B14F-4D97-AF65-F5344CB8AC3E}">
        <p14:creationId xmlns:p14="http://schemas.microsoft.com/office/powerpoint/2010/main" val="728554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8 CuadroTexto"/>
          <p:cNvSpPr txBox="1">
            <a:spLocks noChangeArrowheads="1"/>
          </p:cNvSpPr>
          <p:nvPr/>
        </p:nvSpPr>
        <p:spPr bwMode="auto">
          <a:xfrm>
            <a:off x="642938" y="1340768"/>
            <a:ext cx="785812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s-ES_tradnl" sz="16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Consta de un alambre de cobre duro en su parte central rodeado por un material aislante. Este material aislante está rodeado por una malla metálica que a su vez está cubierta por una capa de plástico protectora.</a:t>
            </a:r>
            <a:endParaRPr lang="es-MX" sz="1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642938" y="764704"/>
            <a:ext cx="63053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Cable coaxial</a:t>
            </a:r>
          </a:p>
        </p:txBody>
      </p:sp>
      <p:pic>
        <p:nvPicPr>
          <p:cNvPr id="717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5021535"/>
            <a:ext cx="4972050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14 CuadroTexto"/>
          <p:cNvSpPr txBox="1">
            <a:spLocks noChangeArrowheads="1"/>
          </p:cNvSpPr>
          <p:nvPr/>
        </p:nvSpPr>
        <p:spPr bwMode="auto">
          <a:xfrm>
            <a:off x="642938" y="3447405"/>
            <a:ext cx="7929562" cy="701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ts val="25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/>
              <a:buChar char="o"/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Es más caro que el par trenzado, pero puede transmitir una gran cantidad de datos más rápido que el par trenzado y no sufre interferencias eléctricas.</a:t>
            </a:r>
            <a:endParaRPr lang="es-MX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642938" y="4267838"/>
            <a:ext cx="7929562" cy="38529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eaLnBrk="0" hangingPunct="0">
              <a:lnSpc>
                <a:spcPts val="25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Monotype Sorts"/>
              <a:buChar char="o"/>
              <a:defRPr/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Es un cable muy popular en la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industria de la televisión por cable. </a:t>
            </a:r>
            <a:endParaRPr lang="es-MX" sz="1600" b="1" dirty="0">
              <a:solidFill>
                <a:schemeClr val="bg2">
                  <a:lumMod val="25000"/>
                </a:schemeClr>
              </a:solidFill>
              <a:latin typeface="ZapfHumnst BT"/>
            </a:endParaRPr>
          </a:p>
        </p:txBody>
      </p:sp>
      <p:sp>
        <p:nvSpPr>
          <p:cNvPr id="8" name="7 CuadroTexto"/>
          <p:cNvSpPr txBox="1">
            <a:spLocks noChangeArrowheads="1"/>
          </p:cNvSpPr>
          <p:nvPr/>
        </p:nvSpPr>
        <p:spPr bwMode="auto">
          <a:xfrm>
            <a:off x="642938" y="2688555"/>
            <a:ext cx="7929562" cy="701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ts val="25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/>
              <a:buChar char="o"/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La primera generación de redes utilizaban cable coaxial y se sigue usando para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tendidos mayores de 100 metros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.</a:t>
            </a:r>
            <a:endParaRPr lang="es-MX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07504" y="-2738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de cobre</a:t>
            </a:r>
          </a:p>
        </p:txBody>
      </p:sp>
    </p:spTree>
    <p:extLst>
      <p:ext uri="{BB962C8B-B14F-4D97-AF65-F5344CB8AC3E}">
        <p14:creationId xmlns:p14="http://schemas.microsoft.com/office/powerpoint/2010/main" val="4204567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/>
      <p:bldP spid="14" grpId="0"/>
      <p:bldP spid="15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503944" y="3989898"/>
            <a:ext cx="3416427" cy="9921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4063925" y="1971123"/>
            <a:ext cx="5022342" cy="29969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357683" y="2015108"/>
            <a:ext cx="3528441" cy="13144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 txBox="1"/>
          <p:nvPr/>
        </p:nvSpPr>
        <p:spPr>
          <a:xfrm>
            <a:off x="581331" y="3469596"/>
            <a:ext cx="133921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spc="-56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T</a:t>
            </a:r>
            <a:r>
              <a:rPr b="1" spc="-4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wi</a:t>
            </a:r>
            <a:r>
              <a:rPr b="1" spc="-8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n</a:t>
            </a:r>
            <a:r>
              <a:rPr b="1" spc="-4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-</a:t>
            </a:r>
            <a:r>
              <a:rPr b="1" spc="-19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a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x</a:t>
            </a:r>
            <a:r>
              <a:rPr b="1" spc="-4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 Cable</a:t>
            </a:r>
            <a:endParaRPr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9DB1953-67DD-4119-89A5-144F5ABBCD67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176526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de cobre</a:t>
            </a: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E58F2546-AE6C-4DFA-B594-CAEEB1B44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484" y="1507919"/>
            <a:ext cx="63053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Cable coaxial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3" y="2492896"/>
            <a:ext cx="2563614" cy="1656489"/>
          </a:xfrm>
          <a:prstGeom prst="rect">
            <a:avLst/>
          </a:prstGeom>
        </p:spPr>
      </p:pic>
      <p:sp>
        <p:nvSpPr>
          <p:cNvPr id="12291" name="Text Box 5"/>
          <p:cNvSpPr txBox="1">
            <a:spLocks noChangeArrowheads="1"/>
          </p:cNvSpPr>
          <p:nvPr/>
        </p:nvSpPr>
        <p:spPr bwMode="auto">
          <a:xfrm>
            <a:off x="1265391" y="897437"/>
            <a:ext cx="6286500" cy="560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Par trenzado no blindado 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(UTP -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Unshielded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Twisted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Pair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)</a:t>
            </a:r>
          </a:p>
        </p:txBody>
      </p:sp>
      <p:sp>
        <p:nvSpPr>
          <p:cNvPr id="12293" name="10 CuadroTexto"/>
          <p:cNvSpPr txBox="1">
            <a:spLocks noChangeArrowheads="1"/>
          </p:cNvSpPr>
          <p:nvPr/>
        </p:nvSpPr>
        <p:spPr bwMode="auto">
          <a:xfrm>
            <a:off x="576118" y="1539280"/>
            <a:ext cx="7858125" cy="786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7800" indent="-1778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 algn="ctr" eaLnBrk="1" hangingPunct="1">
              <a:lnSpc>
                <a:spcPct val="150000"/>
              </a:lnSpc>
            </a:pPr>
            <a:r>
              <a:rPr lang="es-ES_tradnl" sz="16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Consiste de dos alambres de cobre aislados con un recubrimiento plástico, que se entrelazan en forma helicoidal. </a:t>
            </a:r>
            <a:endParaRPr lang="es-MX" sz="16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294" name="11 CuadroTexto"/>
          <p:cNvSpPr txBox="1">
            <a:spLocks noChangeArrowheads="1"/>
          </p:cNvSpPr>
          <p:nvPr/>
        </p:nvSpPr>
        <p:spPr bwMode="auto">
          <a:xfrm>
            <a:off x="714374" y="2642797"/>
            <a:ext cx="7858125" cy="417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7800" indent="-1778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  <a:buClr>
                <a:schemeClr val="tx1"/>
              </a:buClr>
              <a:buFont typeface="Arial" pitchFamily="34" charset="0"/>
              <a:buChar char="•"/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 sido usado por años en las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líneas telefónicas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5" name="12 CuadroTexto"/>
          <p:cNvSpPr txBox="1">
            <a:spLocks noChangeArrowheads="1"/>
          </p:cNvSpPr>
          <p:nvPr/>
        </p:nvSpPr>
        <p:spPr bwMode="auto">
          <a:xfrm>
            <a:off x="767526" y="5974314"/>
            <a:ext cx="7932473" cy="373628"/>
          </a:xfrm>
          <a:prstGeom prst="rect">
            <a:avLst/>
          </a:prstGeom>
          <a:noFill/>
          <a:ln w="9525">
            <a:solidFill>
              <a:schemeClr val="bg2">
                <a:lumMod val="2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marL="177800" indent="-1778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 eaLnBrk="1" hangingPunct="1">
              <a:lnSpc>
                <a:spcPts val="2500"/>
              </a:lnSpc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La</a:t>
            </a:r>
            <a:r>
              <a:rPr lang="es-ES" sz="14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U 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de UTP significa</a:t>
            </a:r>
            <a:r>
              <a:rPr lang="es-ES" sz="14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'sin blindaje‘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, por lo que no incorpora ninguna malla metálica que lo rodee. </a:t>
            </a:r>
          </a:p>
        </p:txBody>
      </p:sp>
      <p:sp>
        <p:nvSpPr>
          <p:cNvPr id="12296" name="13 CuadroTexto"/>
          <p:cNvSpPr txBox="1">
            <a:spLocks noChangeArrowheads="1"/>
          </p:cNvSpPr>
          <p:nvPr/>
        </p:nvSpPr>
        <p:spPr bwMode="auto">
          <a:xfrm>
            <a:off x="1040754" y="4354980"/>
            <a:ext cx="7143750" cy="417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Times New Roman" pitchFamily="18" charset="0"/>
              </a:rPr>
              <a:t>Ventajas: 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Times New Roman" pitchFamily="18" charset="0"/>
              </a:rPr>
              <a:t>El cable es más económico, flexible, delgado y fácil de instalar.</a:t>
            </a:r>
            <a:endParaRPr lang="es-MX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" name="11 CuadroTexto"/>
          <p:cNvSpPr txBox="1">
            <a:spLocks noChangeArrowheads="1"/>
          </p:cNvSpPr>
          <p:nvPr/>
        </p:nvSpPr>
        <p:spPr bwMode="auto">
          <a:xfrm>
            <a:off x="714374" y="3152385"/>
            <a:ext cx="7858125" cy="417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7800" indent="-1778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  <a:buClr>
                <a:schemeClr val="tx1"/>
              </a:buClr>
              <a:buFont typeface="Arial" pitchFamily="34" charset="0"/>
              <a:buChar char="•"/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el más popular para la implementación de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redes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13 CuadroTexto"/>
          <p:cNvSpPr txBox="1">
            <a:spLocks noChangeArrowheads="1"/>
          </p:cNvSpPr>
          <p:nvPr/>
        </p:nvSpPr>
        <p:spPr bwMode="auto">
          <a:xfrm>
            <a:off x="1040754" y="4866191"/>
            <a:ext cx="7143750" cy="786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Times New Roman" pitchFamily="18" charset="0"/>
              </a:rPr>
              <a:t>Desventajas: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Times New Roman" pitchFamily="18" charset="0"/>
              </a:rPr>
              <a:t>Presenta menor protección frente a interferencias electromagnéticas</a:t>
            </a:r>
            <a:endParaRPr lang="es-MX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11 CuadroTexto"/>
          <p:cNvSpPr txBox="1">
            <a:spLocks noChangeArrowheads="1"/>
          </p:cNvSpPr>
          <p:nvPr/>
        </p:nvSpPr>
        <p:spPr bwMode="auto">
          <a:xfrm>
            <a:off x="683568" y="3664701"/>
            <a:ext cx="5112568" cy="417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7800" indent="-1778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  <a:buClr>
                <a:schemeClr val="tx1"/>
              </a:buClr>
              <a:buFont typeface="Arial" pitchFamily="34" charset="0"/>
              <a:buChar char="•"/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limita a un tendido recomendado de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 metros</a:t>
            </a: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107504" y="-2738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de cobre</a:t>
            </a:r>
          </a:p>
        </p:txBody>
      </p:sp>
    </p:spTree>
    <p:extLst>
      <p:ext uri="{BB962C8B-B14F-4D97-AF65-F5344CB8AC3E}">
        <p14:creationId xmlns:p14="http://schemas.microsoft.com/office/powerpoint/2010/main" val="2386212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/>
      <p:bldP spid="12293" grpId="0"/>
      <p:bldP spid="12294" grpId="0"/>
      <p:bldP spid="12295" grpId="0" animBg="1"/>
      <p:bldP spid="12296" grpId="0"/>
      <p:bldP spid="11" grpId="0"/>
      <p:bldP spid="12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739772" y="2196845"/>
            <a:ext cx="6404228" cy="34850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179451" y="2296288"/>
            <a:ext cx="2171700" cy="15716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 txBox="1"/>
          <p:nvPr/>
        </p:nvSpPr>
        <p:spPr>
          <a:xfrm>
            <a:off x="238734" y="1969675"/>
            <a:ext cx="287845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spc="-11" dirty="0">
                <a:solidFill>
                  <a:srgbClr val="454551"/>
                </a:solidFill>
                <a:latin typeface="Calibri"/>
                <a:cs typeface="Calibri"/>
              </a:rPr>
              <a:t>Unshiel</a:t>
            </a:r>
            <a:r>
              <a:rPr b="1" spc="-19" dirty="0">
                <a:solidFill>
                  <a:srgbClr val="454551"/>
                </a:solidFill>
                <a:latin typeface="Calibri"/>
                <a:cs typeface="Calibri"/>
              </a:rPr>
              <a:t>d</a:t>
            </a:r>
            <a:r>
              <a:rPr b="1" spc="-4" dirty="0">
                <a:solidFill>
                  <a:srgbClr val="454551"/>
                </a:solidFill>
                <a:latin typeface="Calibri"/>
                <a:cs typeface="Calibri"/>
              </a:rPr>
              <a:t>e</a:t>
            </a:r>
            <a:r>
              <a:rPr b="1" dirty="0">
                <a:solidFill>
                  <a:srgbClr val="454551"/>
                </a:solidFill>
                <a:latin typeface="Calibri"/>
                <a:cs typeface="Calibri"/>
              </a:rPr>
              <a:t>d</a:t>
            </a:r>
            <a:r>
              <a:rPr b="1" spc="-4" dirty="0">
                <a:solidFill>
                  <a:srgbClr val="454551"/>
                </a:solidFill>
                <a:latin typeface="Calibri"/>
                <a:cs typeface="Calibri"/>
              </a:rPr>
              <a:t> </a:t>
            </a:r>
            <a:r>
              <a:rPr b="1" spc="-53" dirty="0">
                <a:solidFill>
                  <a:srgbClr val="454551"/>
                </a:solidFill>
                <a:latin typeface="Calibri"/>
                <a:cs typeface="Calibri"/>
              </a:rPr>
              <a:t>T</a:t>
            </a:r>
            <a:r>
              <a:rPr b="1" spc="-15" dirty="0">
                <a:solidFill>
                  <a:srgbClr val="454551"/>
                </a:solidFill>
                <a:latin typeface="Calibri"/>
                <a:cs typeface="Calibri"/>
              </a:rPr>
              <a:t>wi</a:t>
            </a:r>
            <a:r>
              <a:rPr b="1" spc="-23" dirty="0">
                <a:solidFill>
                  <a:srgbClr val="454551"/>
                </a:solidFill>
                <a:latin typeface="Calibri"/>
                <a:cs typeface="Calibri"/>
              </a:rPr>
              <a:t>s</a:t>
            </a:r>
            <a:r>
              <a:rPr b="1" spc="-30" dirty="0">
                <a:solidFill>
                  <a:srgbClr val="454551"/>
                </a:solidFill>
                <a:latin typeface="Calibri"/>
                <a:cs typeface="Calibri"/>
              </a:rPr>
              <a:t>t</a:t>
            </a:r>
            <a:r>
              <a:rPr b="1" spc="-4" dirty="0">
                <a:solidFill>
                  <a:srgbClr val="454551"/>
                </a:solidFill>
                <a:latin typeface="Calibri"/>
                <a:cs typeface="Calibri"/>
              </a:rPr>
              <a:t>e</a:t>
            </a:r>
            <a:r>
              <a:rPr b="1" dirty="0">
                <a:solidFill>
                  <a:srgbClr val="454551"/>
                </a:solidFill>
                <a:latin typeface="Calibri"/>
                <a:cs typeface="Calibri"/>
              </a:rPr>
              <a:t>d </a:t>
            </a:r>
            <a:r>
              <a:rPr b="1" spc="-41" dirty="0">
                <a:solidFill>
                  <a:srgbClr val="454551"/>
                </a:solidFill>
                <a:latin typeface="Calibri"/>
                <a:cs typeface="Calibri"/>
              </a:rPr>
              <a:t>P</a:t>
            </a:r>
            <a:r>
              <a:rPr b="1" spc="-8" dirty="0">
                <a:solidFill>
                  <a:srgbClr val="454551"/>
                </a:solidFill>
                <a:latin typeface="Calibri"/>
                <a:cs typeface="Calibri"/>
              </a:rPr>
              <a:t>air</a:t>
            </a:r>
            <a:r>
              <a:rPr b="1" spc="-4" dirty="0">
                <a:solidFill>
                  <a:srgbClr val="454551"/>
                </a:solidFill>
                <a:latin typeface="Calibri"/>
                <a:cs typeface="Calibri"/>
              </a:rPr>
              <a:t> </a:t>
            </a:r>
            <a:r>
              <a:rPr b="1" spc="-11" dirty="0">
                <a:solidFill>
                  <a:srgbClr val="454551"/>
                </a:solidFill>
                <a:latin typeface="Calibri"/>
                <a:cs typeface="Calibri"/>
              </a:rPr>
              <a:t>(UTP)</a:t>
            </a:r>
            <a:endParaRPr>
              <a:latin typeface="Calibri"/>
              <a:cs typeface="Calibri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F2B45743-1F10-46DF-8962-B43028AA1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5391" y="897437"/>
            <a:ext cx="6286500" cy="560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Par trenzado no blindado 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(UTP -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Unshielded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Twisted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Pair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)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3106280-6B42-419A-A5A0-2E66DFE6B987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-2738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de cobre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683568" y="1073063"/>
            <a:ext cx="8044942" cy="742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15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Los cables de par trenzado están divididos en categorías, y estas representan las características del cable y el ancho de banda que pueden llegar a alcanzar. </a:t>
            </a:r>
            <a:endParaRPr lang="es-MX" sz="1600" dirty="0">
              <a:latin typeface="ZapfHumnst BT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775530" y="1935614"/>
            <a:ext cx="8044942" cy="402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1500" dirty="0">
                <a:latin typeface="ZapfHumnst BT"/>
              </a:rPr>
              <a:t>Los cables Ethernet, son UTP principalmente categoría 5 o 6.</a:t>
            </a:r>
            <a:endParaRPr lang="es-MX" sz="1600" dirty="0">
              <a:latin typeface="ZapfHumnst BT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0DAF87C-4815-4910-B198-325B27462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000776"/>
              </p:ext>
            </p:extLst>
          </p:nvPr>
        </p:nvGraphicFramePr>
        <p:xfrm>
          <a:off x="1223628" y="2473428"/>
          <a:ext cx="7148746" cy="3736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938">
                  <a:extLst>
                    <a:ext uri="{9D8B030D-6E8A-4147-A177-3AD203B41FA5}">
                      <a16:colId xmlns:a16="http://schemas.microsoft.com/office/drawing/2014/main" val="473241102"/>
                    </a:ext>
                  </a:extLst>
                </a:gridCol>
                <a:gridCol w="5063808">
                  <a:extLst>
                    <a:ext uri="{9D8B030D-6E8A-4147-A177-3AD203B41FA5}">
                      <a16:colId xmlns:a16="http://schemas.microsoft.com/office/drawing/2014/main" val="3601927037"/>
                    </a:ext>
                  </a:extLst>
                </a:gridCol>
              </a:tblGrid>
              <a:tr h="21322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Tipo</a:t>
                      </a:r>
                      <a:endParaRPr lang="es-MX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Uso y velocidad</a:t>
                      </a:r>
                      <a:endParaRPr lang="es-MX" sz="16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0149858"/>
                  </a:ext>
                </a:extLst>
              </a:tr>
              <a:tr h="262816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Categoría 1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Voz solamente (cable telefónico)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94540024"/>
                  </a:ext>
                </a:extLst>
              </a:tr>
              <a:tr h="312404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>
                          <a:effectLst/>
                        </a:rPr>
                        <a:t>Categoría 2</a:t>
                      </a:r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Datos hasta 4 Mbps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19804961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Categoría 3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Datos hasta 10 Mbps (Ethernet)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55345389"/>
                  </a:ext>
                </a:extLst>
              </a:tr>
              <a:tr h="26561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>
                          <a:effectLst/>
                        </a:rPr>
                        <a:t>Categoría 4</a:t>
                      </a:r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Datos hasta 20 Mbps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9542576"/>
                  </a:ext>
                </a:extLst>
              </a:tr>
              <a:tr h="3152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Categoría 5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Datos hasta 100 Mbps (</a:t>
                      </a:r>
                      <a:r>
                        <a:rPr lang="es-MX" sz="1600" u="none" strike="noStrike" dirty="0" err="1">
                          <a:effectLst/>
                        </a:rPr>
                        <a:t>FastEthernet</a:t>
                      </a:r>
                      <a:r>
                        <a:rPr lang="es-MX" sz="1600" u="none" strike="noStrike" dirty="0">
                          <a:effectLst/>
                        </a:rPr>
                        <a:t>)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73622877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>
                          <a:effectLst/>
                        </a:rPr>
                        <a:t>Categoría 5e</a:t>
                      </a:r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Datos hasta 1000 Mbps (</a:t>
                      </a:r>
                      <a:r>
                        <a:rPr lang="es-MX" sz="1600" u="none" strike="noStrike" dirty="0" err="1">
                          <a:effectLst/>
                        </a:rPr>
                        <a:t>GigabitEthernet</a:t>
                      </a:r>
                      <a:r>
                        <a:rPr lang="es-MX" sz="1600" u="none" strike="noStrike" dirty="0">
                          <a:effectLst/>
                        </a:rPr>
                        <a:t>)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77811998"/>
                  </a:ext>
                </a:extLst>
              </a:tr>
              <a:tr h="26561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Categoría 6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Datos hasta 1000 Mbps (</a:t>
                      </a:r>
                      <a:r>
                        <a:rPr lang="es-MX" sz="1600" u="none" strike="noStrike" dirty="0" err="1">
                          <a:effectLst/>
                        </a:rPr>
                        <a:t>GigabitEthernet</a:t>
                      </a:r>
                      <a:r>
                        <a:rPr lang="es-MX" sz="1600" u="none" strike="noStrike" dirty="0">
                          <a:effectLst/>
                        </a:rPr>
                        <a:t>)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31623616"/>
                  </a:ext>
                </a:extLst>
              </a:tr>
              <a:tr h="31520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Categoría 6a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Datos hasta 10 </a:t>
                      </a:r>
                      <a:r>
                        <a:rPr lang="es-MX" sz="1600" u="none" strike="noStrike" dirty="0" err="1">
                          <a:effectLst/>
                        </a:rPr>
                        <a:t>Gbps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70935151"/>
                  </a:ext>
                </a:extLst>
              </a:tr>
              <a:tr h="28803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Categoría 7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Datos hasta 10 </a:t>
                      </a:r>
                      <a:r>
                        <a:rPr lang="es-MX" sz="1600" u="none" strike="noStrike" dirty="0" err="1">
                          <a:effectLst/>
                        </a:rPr>
                        <a:t>Gbps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56790393"/>
                  </a:ext>
                </a:extLst>
              </a:tr>
              <a:tr h="220772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Categoría 7a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Datos hasta 10 </a:t>
                      </a:r>
                      <a:r>
                        <a:rPr lang="es-MX" sz="1600" u="none" strike="noStrike" dirty="0" err="1">
                          <a:effectLst/>
                        </a:rPr>
                        <a:t>Gbps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34055028"/>
                  </a:ext>
                </a:extLst>
              </a:tr>
              <a:tr h="207770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Categoría 8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</a:pPr>
                      <a:r>
                        <a:rPr lang="es-MX" sz="1600" u="none" strike="noStrike" dirty="0">
                          <a:effectLst/>
                        </a:rPr>
                        <a:t>Datos hasta 40 Gbps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5709578"/>
                  </a:ext>
                </a:extLst>
              </a:tr>
            </a:tbl>
          </a:graphicData>
        </a:graphic>
      </p:graphicFrame>
      <p:sp>
        <p:nvSpPr>
          <p:cNvPr id="9" name="Text Box 5">
            <a:extLst>
              <a:ext uri="{FF2B5EF4-FFF2-40B4-BE49-F238E27FC236}">
                <a16:creationId xmlns:a16="http://schemas.microsoft.com/office/drawing/2014/main" id="{4CD804A1-AABE-4941-B84D-D91F5E4D8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0" y="463292"/>
            <a:ext cx="6286500" cy="560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Par trenzado no blindado 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(UTP -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Unshielded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Twisted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Pair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)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A9DF7A4-4C2E-4EB9-BF01-95C529A8F10D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-132586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de cobre</a:t>
            </a:r>
          </a:p>
        </p:txBody>
      </p:sp>
    </p:spTree>
    <p:extLst>
      <p:ext uri="{BB962C8B-B14F-4D97-AF65-F5344CB8AC3E}">
        <p14:creationId xmlns:p14="http://schemas.microsoft.com/office/powerpoint/2010/main" val="26095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8" name="18 CuadroTexto"/>
          <p:cNvSpPr txBox="1">
            <a:spLocks noChangeArrowheads="1"/>
          </p:cNvSpPr>
          <p:nvPr/>
        </p:nvSpPr>
        <p:spPr bwMode="auto">
          <a:xfrm>
            <a:off x="467544" y="1720300"/>
            <a:ext cx="453198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Son cables de cobre aislados dentro de una cubierta protectora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, lo que permite la inmunidad al ruido al contrario que UTP que no dispone de dicho aislamiento.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2015716" y="655191"/>
            <a:ext cx="5112568" cy="56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Par trenzado blindado 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(STP -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Shielded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Twisted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Pair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)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2045621"/>
            <a:ext cx="3101883" cy="3024336"/>
          </a:xfrm>
          <a:prstGeom prst="rect">
            <a:avLst/>
          </a:prstGeom>
        </p:spPr>
      </p:pic>
      <p:sp>
        <p:nvSpPr>
          <p:cNvPr id="18" name="13 CuadroTexto"/>
          <p:cNvSpPr txBox="1">
            <a:spLocks noChangeArrowheads="1"/>
          </p:cNvSpPr>
          <p:nvPr/>
        </p:nvSpPr>
        <p:spPr bwMode="auto">
          <a:xfrm>
            <a:off x="567957" y="4406356"/>
            <a:ext cx="5550768" cy="880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Times New Roman" pitchFamily="18" charset="0"/>
              </a:rPr>
              <a:t>Ventajas: 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inherit"/>
              </a:rPr>
              <a:t>Se utilizan para conexiones de alta velocidad.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70000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Times New Roman" pitchFamily="18" charset="0"/>
              </a:rPr>
              <a:t>.</a:t>
            </a:r>
            <a:endParaRPr lang="es-MX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9" name="13 CuadroTexto"/>
          <p:cNvSpPr txBox="1">
            <a:spLocks noChangeArrowheads="1"/>
          </p:cNvSpPr>
          <p:nvPr/>
        </p:nvSpPr>
        <p:spPr bwMode="auto">
          <a:xfrm>
            <a:off x="598756" y="5043179"/>
            <a:ext cx="8109179" cy="416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Times New Roman" pitchFamily="18" charset="0"/>
              </a:rPr>
              <a:t>Desventajas: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inherit"/>
              </a:rPr>
              <a:t>Es mas caro, mas pesado y su flexibilidad es mas reducida que el UTP. 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9" name="18 CuadroTexto"/>
          <p:cNvSpPr txBox="1">
            <a:spLocks noChangeArrowheads="1"/>
          </p:cNvSpPr>
          <p:nvPr/>
        </p:nvSpPr>
        <p:spPr bwMode="auto">
          <a:xfrm>
            <a:off x="459535" y="3239322"/>
            <a:ext cx="4531982" cy="785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La longitud máxima de los cables de par trenzado están limitados a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90 metros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.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DCDAE5B1-7BD5-4249-A84C-4F566B0DDAA6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-2738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de cobre</a:t>
            </a:r>
          </a:p>
        </p:txBody>
      </p:sp>
    </p:spTree>
    <p:extLst>
      <p:ext uri="{BB962C8B-B14F-4D97-AF65-F5344CB8AC3E}">
        <p14:creationId xmlns:p14="http://schemas.microsoft.com/office/powerpoint/2010/main" val="2563433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8" grpId="0"/>
      <p:bldP spid="13" grpId="0"/>
      <p:bldP spid="18" grpId="0"/>
      <p:bldP spid="19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828424" y="1791014"/>
            <a:ext cx="4449699" cy="38724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817301" y="2348880"/>
            <a:ext cx="1923669" cy="19876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 txBox="1"/>
          <p:nvPr/>
        </p:nvSpPr>
        <p:spPr>
          <a:xfrm>
            <a:off x="467544" y="1919097"/>
            <a:ext cx="2623184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/>
            <a:r>
              <a:rPr b="1" spc="-11" dirty="0">
                <a:solidFill>
                  <a:srgbClr val="454551"/>
                </a:solidFill>
                <a:latin typeface="Calibri"/>
                <a:cs typeface="Calibri"/>
              </a:rPr>
              <a:t>Shielded</a:t>
            </a:r>
            <a:r>
              <a:rPr b="1" spc="-8" dirty="0">
                <a:solidFill>
                  <a:srgbClr val="454551"/>
                </a:solidFill>
                <a:latin typeface="Calibri"/>
                <a:cs typeface="Calibri"/>
              </a:rPr>
              <a:t> </a:t>
            </a:r>
            <a:r>
              <a:rPr b="1" spc="-56" dirty="0">
                <a:solidFill>
                  <a:srgbClr val="454551"/>
                </a:solidFill>
                <a:latin typeface="Calibri"/>
                <a:cs typeface="Calibri"/>
              </a:rPr>
              <a:t>T</a:t>
            </a:r>
            <a:r>
              <a:rPr b="1" spc="-15" dirty="0">
                <a:solidFill>
                  <a:srgbClr val="454551"/>
                </a:solidFill>
                <a:latin typeface="Calibri"/>
                <a:cs typeface="Calibri"/>
              </a:rPr>
              <a:t>wi</a:t>
            </a:r>
            <a:r>
              <a:rPr b="1" spc="-26" dirty="0">
                <a:solidFill>
                  <a:srgbClr val="454551"/>
                </a:solidFill>
                <a:latin typeface="Calibri"/>
                <a:cs typeface="Calibri"/>
              </a:rPr>
              <a:t>s</a:t>
            </a:r>
            <a:r>
              <a:rPr b="1" spc="-30" dirty="0">
                <a:solidFill>
                  <a:srgbClr val="454551"/>
                </a:solidFill>
                <a:latin typeface="Calibri"/>
                <a:cs typeface="Calibri"/>
              </a:rPr>
              <a:t>t</a:t>
            </a:r>
            <a:r>
              <a:rPr b="1" spc="-4" dirty="0">
                <a:solidFill>
                  <a:srgbClr val="454551"/>
                </a:solidFill>
                <a:latin typeface="Calibri"/>
                <a:cs typeface="Calibri"/>
              </a:rPr>
              <a:t>e</a:t>
            </a:r>
            <a:r>
              <a:rPr b="1" dirty="0">
                <a:solidFill>
                  <a:srgbClr val="454551"/>
                </a:solidFill>
                <a:latin typeface="Calibri"/>
                <a:cs typeface="Calibri"/>
              </a:rPr>
              <a:t>d</a:t>
            </a:r>
            <a:r>
              <a:rPr b="1" spc="8" dirty="0">
                <a:solidFill>
                  <a:srgbClr val="454551"/>
                </a:solidFill>
                <a:latin typeface="Calibri"/>
                <a:cs typeface="Calibri"/>
              </a:rPr>
              <a:t> </a:t>
            </a:r>
            <a:r>
              <a:rPr b="1" spc="-41" dirty="0">
                <a:solidFill>
                  <a:srgbClr val="454551"/>
                </a:solidFill>
                <a:latin typeface="Calibri"/>
                <a:cs typeface="Calibri"/>
              </a:rPr>
              <a:t>P</a:t>
            </a:r>
            <a:r>
              <a:rPr b="1" spc="-8" dirty="0">
                <a:solidFill>
                  <a:srgbClr val="454551"/>
                </a:solidFill>
                <a:latin typeface="Calibri"/>
                <a:cs typeface="Calibri"/>
              </a:rPr>
              <a:t>air</a:t>
            </a:r>
            <a:r>
              <a:rPr b="1" spc="-4" dirty="0">
                <a:solidFill>
                  <a:srgbClr val="454551"/>
                </a:solidFill>
                <a:latin typeface="Calibri"/>
                <a:cs typeface="Calibri"/>
              </a:rPr>
              <a:t> </a:t>
            </a:r>
            <a:r>
              <a:rPr b="1" spc="-11" dirty="0">
                <a:solidFill>
                  <a:srgbClr val="454551"/>
                </a:solidFill>
                <a:latin typeface="Calibri"/>
                <a:cs typeface="Calibri"/>
              </a:rPr>
              <a:t>(UTP)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42AC8D8-65B4-44CB-A61A-53CC65C811A4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473729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de cobre</a:t>
            </a:r>
          </a:p>
          <a:p>
            <a:pPr>
              <a:spcBef>
                <a:spcPts val="600"/>
              </a:spcBef>
              <a:defRPr/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Par trenzado blindado 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(STP -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Shielded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Twisted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sz="1800" dirty="0" err="1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Pair</a:t>
            </a:r>
            <a:r>
              <a:rPr lang="es-MX" sz="1800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)</a:t>
            </a:r>
          </a:p>
          <a:p>
            <a:pPr>
              <a:defRPr/>
            </a:pPr>
            <a:endParaRPr lang="es-ES_tradnl"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5">
            <a:extLst>
              <a:ext uri="{FF2B5EF4-FFF2-40B4-BE49-F238E27FC236}">
                <a16:creationId xmlns:a16="http://schemas.microsoft.com/office/drawing/2014/main" id="{AF79D962-E0E1-404F-BB0A-ED5904A67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716" y="844031"/>
            <a:ext cx="5112568" cy="56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Par trenzado - Conectores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42AC8D8-65B4-44CB-A61A-53CC65C811A4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161456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de cobre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B80E6337-2B66-4AF0-AB78-4E8BFFB4D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971" y="1803147"/>
            <a:ext cx="1602773" cy="464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 algn="just">
              <a:lnSpc>
                <a:spcPct val="150000"/>
              </a:lnSpc>
            </a:pPr>
            <a:r>
              <a:rPr lang="es-MX" sz="18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RJ45</a:t>
            </a:r>
          </a:p>
        </p:txBody>
      </p:sp>
      <p:sp>
        <p:nvSpPr>
          <p:cNvPr id="10" name="25 CuadroTexto">
            <a:extLst>
              <a:ext uri="{FF2B5EF4-FFF2-40B4-BE49-F238E27FC236}">
                <a16:creationId xmlns:a16="http://schemas.microsoft.com/office/drawing/2014/main" id="{3E7A7E22-5F8C-4405-8AE8-0B0A0903E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971" y="2401771"/>
            <a:ext cx="4267069" cy="792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s-MX" sz="1600" dirty="0">
                <a:latin typeface="ZapfHumnst BT"/>
              </a:rPr>
              <a:t>Es una interfaz física usada para conectar redes de cableado estructurado, (categorías 5, 6, 7 y 8). </a:t>
            </a:r>
          </a:p>
        </p:txBody>
      </p:sp>
      <p:sp>
        <p:nvSpPr>
          <p:cNvPr id="11" name="16 CuadroTexto">
            <a:extLst>
              <a:ext uri="{FF2B5EF4-FFF2-40B4-BE49-F238E27FC236}">
                <a16:creationId xmlns:a16="http://schemas.microsoft.com/office/drawing/2014/main" id="{1B0E96D6-2BFD-4AC4-8327-92BBDA57C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609" y="3337715"/>
            <a:ext cx="4172423" cy="1531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s-MX" sz="1600" dirty="0">
                <a:latin typeface="ZapfHumnst BT"/>
              </a:rPr>
              <a:t>Posee ocho "pines“ o conexiones eléctricas, que normalmente se usan como extremos de cables de </a:t>
            </a:r>
            <a:r>
              <a:rPr lang="es-MX" sz="1600" b="1" dirty="0">
                <a:latin typeface="ZapfHumnst BT"/>
              </a:rPr>
              <a:t>par trenzado</a:t>
            </a:r>
            <a:r>
              <a:rPr lang="es-MX" sz="1600" dirty="0">
                <a:latin typeface="ZapfHumnst BT"/>
              </a:rPr>
              <a:t> (cables de red </a:t>
            </a:r>
            <a:r>
              <a:rPr lang="es-MX" sz="1600" b="1" dirty="0">
                <a:latin typeface="ZapfHumnst BT"/>
              </a:rPr>
              <a:t>Ethernet</a:t>
            </a:r>
            <a:r>
              <a:rPr lang="es-MX" sz="1600" dirty="0">
                <a:latin typeface="ZapfHumnst BT"/>
              </a:rPr>
              <a:t>) de 8 pines (4 pares). </a:t>
            </a:r>
          </a:p>
        </p:txBody>
      </p:sp>
      <p:pic>
        <p:nvPicPr>
          <p:cNvPr id="3" name="Imagen 2" descr="Imagen que contiene interior, tabla, comida, cocina&#10;&#10;Descripción generada automáticamente">
            <a:extLst>
              <a:ext uri="{FF2B5EF4-FFF2-40B4-BE49-F238E27FC236}">
                <a16:creationId xmlns:a16="http://schemas.microsoft.com/office/drawing/2014/main" id="{E8CF80BE-4D83-4A40-807D-F5FE1F229B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8065" y="2082134"/>
            <a:ext cx="3143677" cy="325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7039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8 CuadroTexto"/>
          <p:cNvSpPr txBox="1">
            <a:spLocks noChangeArrowheads="1"/>
          </p:cNvSpPr>
          <p:nvPr/>
        </p:nvSpPr>
        <p:spPr bwMode="auto">
          <a:xfrm>
            <a:off x="714375" y="1491012"/>
            <a:ext cx="77152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s-MX" sz="16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Están formadas de cientos a miles de hebras de fibras de vidrio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que son tan delgadas como un cabello humano.</a:t>
            </a:r>
          </a:p>
        </p:txBody>
      </p:sp>
      <p:sp>
        <p:nvSpPr>
          <p:cNvPr id="14341" name="6 CuadroTexto"/>
          <p:cNvSpPr txBox="1">
            <a:spLocks noChangeArrowheads="1"/>
          </p:cNvSpPr>
          <p:nvPr/>
        </p:nvSpPr>
        <p:spPr bwMode="auto">
          <a:xfrm>
            <a:off x="500062" y="3232895"/>
            <a:ext cx="4864026" cy="1028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ts val="25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/>
              <a:buChar char="o"/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ZapfHumnst BT"/>
                <a:cs typeface="Times New Roman" pitchFamily="18" charset="0"/>
              </a:rPr>
              <a:t>Como las transmisiones de fibra óptica usan luz, y no voltaje eléctrico, </a:t>
            </a:r>
            <a:r>
              <a:rPr lang="es-ES_tradnl" sz="1600" b="1" dirty="0">
                <a:solidFill>
                  <a:schemeClr val="bg2">
                    <a:lumMod val="25000"/>
                  </a:schemeClr>
                </a:solidFill>
                <a:latin typeface="ZapfHumnst BT"/>
                <a:cs typeface="Times New Roman" pitchFamily="18" charset="0"/>
              </a:rPr>
              <a:t>no es sujeto a interferencia eléctrica.</a:t>
            </a:r>
            <a:endParaRPr lang="es-MX" sz="1600" dirty="0">
              <a:solidFill>
                <a:schemeClr val="bg2">
                  <a:lumMod val="25000"/>
                </a:schemeClr>
              </a:solidFill>
              <a:latin typeface="ZapfHumnst BT"/>
            </a:endParaRPr>
          </a:p>
        </p:txBody>
      </p:sp>
      <p:sp>
        <p:nvSpPr>
          <p:cNvPr id="7" name="6 CuadroTexto"/>
          <p:cNvSpPr txBox="1">
            <a:spLocks noChangeArrowheads="1"/>
          </p:cNvSpPr>
          <p:nvPr/>
        </p:nvSpPr>
        <p:spPr bwMode="auto">
          <a:xfrm>
            <a:off x="500062" y="4269290"/>
            <a:ext cx="4864026" cy="706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ts val="25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/>
              <a:buChar char="o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Son recomendables para transmitir grandes cantidades de datos a más velocidad.</a:t>
            </a:r>
            <a:endParaRPr lang="es-MX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7 CuadroTexto"/>
          <p:cNvSpPr txBox="1">
            <a:spLocks noChangeArrowheads="1"/>
          </p:cNvSpPr>
          <p:nvPr/>
        </p:nvSpPr>
        <p:spPr bwMode="auto">
          <a:xfrm>
            <a:off x="500062" y="5013176"/>
            <a:ext cx="4864026" cy="706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ts val="25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/>
              <a:buChar char="o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La desventaja es que es mucho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más costoso y más difícil de instalar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.</a:t>
            </a:r>
            <a:endParaRPr lang="es-MX" sz="1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8 CuadroTexto"/>
          <p:cNvSpPr txBox="1">
            <a:spLocks noChangeArrowheads="1"/>
          </p:cNvSpPr>
          <p:nvPr/>
        </p:nvSpPr>
        <p:spPr bwMode="auto">
          <a:xfrm>
            <a:off x="714375" y="2362549"/>
            <a:ext cx="77152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s-MX" sz="16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Los datos son transformados en pulsos de luz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emitidos por un dispositivo láser y transmitidos a alta velocidad. 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FCCD994D-9FA4-4FF7-B216-A7A5180A3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716" y="655191"/>
            <a:ext cx="5112568" cy="56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Fibra óptica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A83DEE48-1BF8-411D-A5C8-51AC207470A0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-2738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ópticos</a:t>
            </a:r>
          </a:p>
        </p:txBody>
      </p:sp>
      <p:pic>
        <p:nvPicPr>
          <p:cNvPr id="3" name="Imagen 2" descr="Imagen que contiene luz&#10;&#10;Descripción generada automáticamente">
            <a:extLst>
              <a:ext uri="{FF2B5EF4-FFF2-40B4-BE49-F238E27FC236}">
                <a16:creationId xmlns:a16="http://schemas.microsoft.com/office/drawing/2014/main" id="{C354694B-CD97-4E4A-A960-DE10BFB9CA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222" y="2852936"/>
            <a:ext cx="2911403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88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/>
      <p:bldP spid="14341" grpId="0"/>
      <p:bldP spid="7" grpId="0"/>
      <p:bldP spid="8" grpId="0"/>
      <p:bldP spid="9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10 Imagen" descr="fibr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463" y="1653221"/>
            <a:ext cx="2160240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5">
            <a:extLst>
              <a:ext uri="{FF2B5EF4-FFF2-40B4-BE49-F238E27FC236}">
                <a16:creationId xmlns:a16="http://schemas.microsoft.com/office/drawing/2014/main" id="{FCCD994D-9FA4-4FF7-B216-A7A5180A3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6096" y="682575"/>
            <a:ext cx="5112568" cy="56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Fibra óptica multimodo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A83DEE48-1BF8-411D-A5C8-51AC207470A0}"/>
              </a:ext>
            </a:extLst>
          </p:cNvPr>
          <p:cNvSpPr txBox="1">
            <a:spLocks noChangeArrowheads="1"/>
          </p:cNvSpPr>
          <p:nvPr/>
        </p:nvSpPr>
        <p:spPr>
          <a:xfrm>
            <a:off x="17884" y="0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ópticos</a:t>
            </a:r>
          </a:p>
        </p:txBody>
      </p:sp>
      <p:sp>
        <p:nvSpPr>
          <p:cNvPr id="10" name="13 CuadroTexto">
            <a:extLst>
              <a:ext uri="{FF2B5EF4-FFF2-40B4-BE49-F238E27FC236}">
                <a16:creationId xmlns:a16="http://schemas.microsoft.com/office/drawing/2014/main" id="{02C87EC9-F916-433B-9043-963B554EA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4712" y="1320483"/>
            <a:ext cx="5544616" cy="1034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ts val="2500"/>
              </a:lnSpc>
              <a:buFont typeface="Arial" pitchFamily="34" charset="0"/>
              <a:buChar char="•"/>
            </a:pPr>
            <a:r>
              <a:rPr lang="es-MX" sz="1600" dirty="0">
                <a:latin typeface="ZapfHumnst BT"/>
              </a:rPr>
              <a:t>Puede propagar más de un modo de luz. Puede tener más de mil modos de propagación de luz, lo  cual se traduce en que puede transmitir más tipos de datos.</a:t>
            </a:r>
          </a:p>
        </p:txBody>
      </p:sp>
      <p:sp>
        <p:nvSpPr>
          <p:cNvPr id="13" name="15 CuadroTexto">
            <a:extLst>
              <a:ext uri="{FF2B5EF4-FFF2-40B4-BE49-F238E27FC236}">
                <a16:creationId xmlns:a16="http://schemas.microsoft.com/office/drawing/2014/main" id="{5DF7D9FF-4A0F-4928-B5D1-261751B9A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6791" y="3044368"/>
            <a:ext cx="5570206" cy="714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ts val="2500"/>
              </a:lnSpc>
              <a:buFont typeface="Arial" pitchFamily="34" charset="0"/>
              <a:buChar char="•"/>
            </a:pPr>
            <a:r>
              <a:rPr lang="es-MX" sz="1600" dirty="0">
                <a:latin typeface="ZapfHumnst BT"/>
              </a:rPr>
              <a:t>Se usan para la transmisión de datos a alta velocidad en distancias cortas, como un edificio o un campus.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0362818-5E15-C109-AB94-69EB842CA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687" y="4835985"/>
            <a:ext cx="2781300" cy="1809750"/>
          </a:xfrm>
          <a:prstGeom prst="rect">
            <a:avLst/>
          </a:prstGeom>
        </p:spPr>
      </p:pic>
      <p:sp>
        <p:nvSpPr>
          <p:cNvPr id="5" name="13 CuadroTexto">
            <a:extLst>
              <a:ext uri="{FF2B5EF4-FFF2-40B4-BE49-F238E27FC236}">
                <a16:creationId xmlns:a16="http://schemas.microsoft.com/office/drawing/2014/main" id="{5D1A3D94-755B-E00C-BD47-5C078C328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4712" y="2353438"/>
            <a:ext cx="5544616" cy="714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ts val="2500"/>
              </a:lnSpc>
              <a:buFont typeface="Arial" pitchFamily="34" charset="0"/>
              <a:buChar char="•"/>
            </a:pPr>
            <a:r>
              <a:rPr lang="es-MX" sz="1600" dirty="0">
                <a:latin typeface="ZapfHumnst BT"/>
              </a:rPr>
              <a:t>Es una opción perfecta para aplicaciones generales de voz y datos.</a:t>
            </a:r>
          </a:p>
        </p:txBody>
      </p:sp>
      <p:sp>
        <p:nvSpPr>
          <p:cNvPr id="6" name="15 CuadroTexto">
            <a:extLst>
              <a:ext uri="{FF2B5EF4-FFF2-40B4-BE49-F238E27FC236}">
                <a16:creationId xmlns:a16="http://schemas.microsoft.com/office/drawing/2014/main" id="{498219BC-36EA-5E37-0188-7D4B518AE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4712" y="3801086"/>
            <a:ext cx="5570206" cy="1034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ts val="2500"/>
              </a:lnSpc>
              <a:buFont typeface="Arial" pitchFamily="34" charset="0"/>
              <a:buChar char="•"/>
            </a:pPr>
            <a:r>
              <a:rPr lang="es-MX" sz="1600" dirty="0">
                <a:latin typeface="ZapfHumnst BT"/>
              </a:rPr>
              <a:t>Su distancia máxima es de </a:t>
            </a:r>
            <a:r>
              <a:rPr lang="es-MX" sz="1600" b="1" dirty="0">
                <a:latin typeface="ZapfHumnst BT"/>
              </a:rPr>
              <a:t>2 km</a:t>
            </a:r>
            <a:r>
              <a:rPr lang="es-MX" sz="1600" dirty="0">
                <a:latin typeface="ZapfHumnst BT"/>
              </a:rPr>
              <a:t>, debido a las interferencias entre las diferentes ondas de luz que pueden distorsionar los datos a grandes distancias.</a:t>
            </a:r>
          </a:p>
        </p:txBody>
      </p:sp>
    </p:spTree>
    <p:extLst>
      <p:ext uri="{BB962C8B-B14F-4D97-AF65-F5344CB8AC3E}">
        <p14:creationId xmlns:p14="http://schemas.microsoft.com/office/powerpoint/2010/main" val="393525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  <p:bldP spid="13" grpId="0"/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">
            <a:extLst>
              <a:ext uri="{FF2B5EF4-FFF2-40B4-BE49-F238E27FC236}">
                <a16:creationId xmlns:a16="http://schemas.microsoft.com/office/drawing/2014/main" id="{FCCD994D-9FA4-4FF7-B216-A7A5180A3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3728" y="630365"/>
            <a:ext cx="5112568" cy="56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Fibra óptica monomodo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A83DEE48-1BF8-411D-A5C8-51AC207470A0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-55776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ópticos</a:t>
            </a:r>
          </a:p>
        </p:txBody>
      </p:sp>
      <p:pic>
        <p:nvPicPr>
          <p:cNvPr id="8" name="20 Imagen" descr="Fibreoptic.jpg">
            <a:extLst>
              <a:ext uri="{FF2B5EF4-FFF2-40B4-BE49-F238E27FC236}">
                <a16:creationId xmlns:a16="http://schemas.microsoft.com/office/drawing/2014/main" id="{B64ED31A-1C5F-4304-8320-26C38DC27D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537730"/>
            <a:ext cx="2738437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17 CuadroTexto">
            <a:extLst>
              <a:ext uri="{FF2B5EF4-FFF2-40B4-BE49-F238E27FC236}">
                <a16:creationId xmlns:a16="http://schemas.microsoft.com/office/drawing/2014/main" id="{938B5BE7-4F47-4FBF-B807-D22E7B03E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864" y="1451301"/>
            <a:ext cx="5111067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s-MX" sz="20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Sólo se propaga un modo de luz. </a:t>
            </a:r>
          </a:p>
        </p:txBody>
      </p:sp>
      <p:sp>
        <p:nvSpPr>
          <p:cNvPr id="15" name="18 CuadroTexto">
            <a:extLst>
              <a:ext uri="{FF2B5EF4-FFF2-40B4-BE49-F238E27FC236}">
                <a16:creationId xmlns:a16="http://schemas.microsoft.com/office/drawing/2014/main" id="{12655FE6-33F9-4FE3-8B00-7F04C546C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865" y="2116464"/>
            <a:ext cx="5196805" cy="1429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s-MX" sz="20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Permiten alcanzar grandes distancias (hasta </a:t>
            </a:r>
            <a:r>
              <a:rPr lang="es-MX" sz="20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100 km máximo</a:t>
            </a:r>
            <a:r>
              <a:rPr lang="es-MX" sz="20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, mediante un láser de alta intensidad). </a:t>
            </a:r>
          </a:p>
        </p:txBody>
      </p:sp>
      <p:sp>
        <p:nvSpPr>
          <p:cNvPr id="16" name="21 CuadroTexto">
            <a:extLst>
              <a:ext uri="{FF2B5EF4-FFF2-40B4-BE49-F238E27FC236}">
                <a16:creationId xmlns:a16="http://schemas.microsoft.com/office/drawing/2014/main" id="{C8884354-9BF1-48C9-9779-0921CE647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865" y="3683549"/>
            <a:ext cx="4645629" cy="96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65125" indent="-365125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es-MX" sz="20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Transmite tasas elevadas de información (decenas de Gb/s).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16AE22F-23D4-1C82-4A05-B7B0E9C83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128" y="4941168"/>
            <a:ext cx="2676525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534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  <p:bldP spid="15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2052829" y="1919097"/>
            <a:ext cx="4989194" cy="37981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7189B3AC-EC0B-498A-9094-3C9FF2876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720" y="916039"/>
            <a:ext cx="5112568" cy="56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Fibra óptica - Conectores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B781D5E-7265-4AE0-8246-1E8E08499CF5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23346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ópticos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5">
            <a:extLst>
              <a:ext uri="{FF2B5EF4-FFF2-40B4-BE49-F238E27FC236}">
                <a16:creationId xmlns:a16="http://schemas.microsoft.com/office/drawing/2014/main" id="{2AB94440-3293-44A0-9F92-796ABF813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716" y="655191"/>
            <a:ext cx="5112568" cy="56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Ondas Electromagnéticas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93B4F92-DF38-457C-8423-F3DA7EE51D7A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-2738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inalámbricos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A024CD6-3ABB-4BF5-902F-F9386B713D67}"/>
              </a:ext>
            </a:extLst>
          </p:cNvPr>
          <p:cNvSpPr txBox="1"/>
          <p:nvPr/>
        </p:nvSpPr>
        <p:spPr>
          <a:xfrm>
            <a:off x="673011" y="1471320"/>
            <a:ext cx="7931437" cy="1070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600"/>
              </a:lnSpc>
            </a:pPr>
            <a:r>
              <a:rPr lang="es-ES" dirty="0"/>
              <a:t>Los medios inalámbricos transportan </a:t>
            </a:r>
            <a:r>
              <a:rPr lang="es-ES" b="1" dirty="0">
                <a:solidFill>
                  <a:srgbClr val="FF0000"/>
                </a:solidFill>
              </a:rPr>
              <a:t>señales electromagnéticas </a:t>
            </a:r>
            <a:r>
              <a:rPr lang="es-ES" dirty="0"/>
              <a:t>que representan los dígitos binarios de las comunicaciones de datos mediante </a:t>
            </a:r>
            <a:r>
              <a:rPr lang="es-ES" b="1" dirty="0">
                <a:solidFill>
                  <a:schemeClr val="accent5">
                    <a:lumMod val="75000"/>
                  </a:schemeClr>
                </a:solidFill>
              </a:rPr>
              <a:t>frecuencias de radio </a:t>
            </a:r>
            <a:r>
              <a:rPr lang="es-ES" dirty="0"/>
              <a:t>y de </a:t>
            </a:r>
            <a:r>
              <a:rPr lang="es-ES" b="1" dirty="0">
                <a:solidFill>
                  <a:schemeClr val="accent5">
                    <a:lumMod val="75000"/>
                  </a:schemeClr>
                </a:solidFill>
              </a:rPr>
              <a:t>microondas</a:t>
            </a:r>
            <a:r>
              <a:rPr lang="es-ES" dirty="0"/>
              <a:t>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107884A-2339-4ACC-AFA0-28D74D8E1C18}"/>
              </a:ext>
            </a:extLst>
          </p:cNvPr>
          <p:cNvSpPr txBox="1"/>
          <p:nvPr/>
        </p:nvSpPr>
        <p:spPr>
          <a:xfrm>
            <a:off x="673010" y="2788869"/>
            <a:ext cx="3322925" cy="140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</a:pPr>
            <a:r>
              <a:rPr lang="es-ES" dirty="0"/>
              <a:t>Una </a:t>
            </a:r>
            <a:r>
              <a:rPr lang="es-ES" b="1" dirty="0"/>
              <a:t>señal electromagnética</a:t>
            </a:r>
            <a:r>
              <a:rPr lang="es-ES" dirty="0"/>
              <a:t> se transmite por el espacio</a:t>
            </a:r>
            <a:r>
              <a:rPr lang="es-ES" b="1" dirty="0"/>
              <a:t> en forma de </a:t>
            </a:r>
            <a:r>
              <a:rPr lang="es-ES" b="1" dirty="0">
                <a:solidFill>
                  <a:srgbClr val="FF0000"/>
                </a:solidFill>
              </a:rPr>
              <a:t>ondas electromagnéticas</a:t>
            </a:r>
            <a:r>
              <a:rPr lang="es-ES" spc="-19" dirty="0">
                <a:cs typeface="Calibri"/>
              </a:rPr>
              <a:t> .</a:t>
            </a:r>
            <a:endParaRPr lang="es-ES" dirty="0"/>
          </a:p>
        </p:txBody>
      </p:sp>
      <p:sp>
        <p:nvSpPr>
          <p:cNvPr id="21" name="object 4">
            <a:extLst>
              <a:ext uri="{FF2B5EF4-FFF2-40B4-BE49-F238E27FC236}">
                <a16:creationId xmlns:a16="http://schemas.microsoft.com/office/drawing/2014/main" id="{98F4FF63-CC0A-4787-B340-550672915A70}"/>
              </a:ext>
            </a:extLst>
          </p:cNvPr>
          <p:cNvSpPr/>
          <p:nvPr/>
        </p:nvSpPr>
        <p:spPr>
          <a:xfrm>
            <a:off x="5436096" y="2541485"/>
            <a:ext cx="2258568" cy="16219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2" name="object 5">
            <a:extLst>
              <a:ext uri="{FF2B5EF4-FFF2-40B4-BE49-F238E27FC236}">
                <a16:creationId xmlns:a16="http://schemas.microsoft.com/office/drawing/2014/main" id="{71582698-91FE-4BE0-B972-D4C1B160A77E}"/>
              </a:ext>
            </a:extLst>
          </p:cNvPr>
          <p:cNvSpPr/>
          <p:nvPr/>
        </p:nvSpPr>
        <p:spPr>
          <a:xfrm>
            <a:off x="5436096" y="4559134"/>
            <a:ext cx="2264283" cy="16242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86C067A-D734-45C7-B999-EEFEA862B394}"/>
              </a:ext>
            </a:extLst>
          </p:cNvPr>
          <p:cNvSpPr txBox="1"/>
          <p:nvPr/>
        </p:nvSpPr>
        <p:spPr>
          <a:xfrm>
            <a:off x="673010" y="4561568"/>
            <a:ext cx="3826982" cy="140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600"/>
              </a:lnSpc>
            </a:pPr>
            <a:r>
              <a:rPr lang="es-ES" spc="-19" dirty="0">
                <a:latin typeface="Calibri"/>
                <a:cs typeface="Calibri"/>
              </a:rPr>
              <a:t>Las </a:t>
            </a:r>
            <a:r>
              <a:rPr lang="es-ES" b="1" spc="-19" dirty="0">
                <a:solidFill>
                  <a:srgbClr val="FF0000"/>
                </a:solidFill>
                <a:latin typeface="Calibri"/>
                <a:cs typeface="Calibri"/>
              </a:rPr>
              <a:t>ondas electromagnéticas (OEM) </a:t>
            </a:r>
            <a:r>
              <a:rPr lang="es-ES" spc="-19" dirty="0">
                <a:latin typeface="Calibri"/>
                <a:cs typeface="Calibri"/>
              </a:rPr>
              <a:t>son generadas por cargas eléctricas que oscilan por un conductor, como podría ser una antena.</a:t>
            </a:r>
            <a:endParaRPr lang="es-MX" spc="-19" dirty="0">
              <a:latin typeface="Calibri"/>
              <a:cs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7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5">
            <a:extLst>
              <a:ext uri="{FF2B5EF4-FFF2-40B4-BE49-F238E27FC236}">
                <a16:creationId xmlns:a16="http://schemas.microsoft.com/office/drawing/2014/main" id="{2AB94440-3293-44A0-9F92-796ABF813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716" y="655191"/>
            <a:ext cx="5112568" cy="56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Propiedades de las Ondas Electromagnéticas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93B4F92-DF38-457C-8423-F3DA7EE51D7A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-2738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inalámbricos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107884A-2339-4ACC-AFA0-28D74D8E1C18}"/>
              </a:ext>
            </a:extLst>
          </p:cNvPr>
          <p:cNvSpPr txBox="1"/>
          <p:nvPr/>
        </p:nvSpPr>
        <p:spPr>
          <a:xfrm>
            <a:off x="606282" y="1628800"/>
            <a:ext cx="8214190" cy="1900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1" dirty="0"/>
              <a:t>Longitud de onda </a:t>
            </a:r>
            <a:r>
              <a:rPr lang="el-GR" sz="1600" b="1" i="0" dirty="0">
                <a:solidFill>
                  <a:srgbClr val="000000"/>
                </a:solidFill>
                <a:effectLst/>
              </a:rPr>
              <a:t>(</a:t>
            </a:r>
            <a:r>
              <a:rPr lang="el-GR" sz="1600" b="0" i="0" dirty="0">
                <a:solidFill>
                  <a:srgbClr val="000000"/>
                </a:solidFill>
                <a:effectLst/>
              </a:rPr>
              <a:t>λ</a:t>
            </a:r>
            <a:r>
              <a:rPr lang="el-GR" sz="1600" b="1" i="0" dirty="0">
                <a:solidFill>
                  <a:srgbClr val="000000"/>
                </a:solidFill>
                <a:effectLst/>
              </a:rPr>
              <a:t>)</a:t>
            </a:r>
            <a:r>
              <a:rPr lang="es-ES" sz="1600" b="1" dirty="0"/>
              <a:t>: </a:t>
            </a:r>
            <a:r>
              <a:rPr lang="es-ES" sz="1600" dirty="0"/>
              <a:t>La distancia entre dos picos. Se mide en metros (m).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1" dirty="0"/>
              <a:t>Amplitud (A) : </a:t>
            </a:r>
            <a:r>
              <a:rPr lang="es-ES" sz="1600" dirty="0"/>
              <a:t>La distancia entre el pico y el punto medio de la onda)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b="1" dirty="0"/>
              <a:t>Frecuencia (F): </a:t>
            </a:r>
            <a:r>
              <a:rPr lang="es-ES" sz="1600" dirty="0"/>
              <a:t>Cuantas ondas llegan al receptor por segundo. Se mide en Hertz (</a:t>
            </a:r>
            <a:r>
              <a:rPr lang="es-ES" sz="1600" dirty="0" err="1"/>
              <a:t>hz</a:t>
            </a:r>
            <a:r>
              <a:rPr lang="es-ES" sz="1600" dirty="0"/>
              <a:t>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b="1" dirty="0">
                <a:effectLst/>
              </a:rPr>
              <a:t>Período (T): </a:t>
            </a:r>
            <a:r>
              <a:rPr lang="es-MX" sz="1600" dirty="0">
                <a:effectLst/>
              </a:rPr>
              <a:t>El tiempo transcurrido para que se realice una onda completa. Se mide en segundos (</a:t>
            </a:r>
            <a:r>
              <a:rPr lang="es-MX" sz="1600" dirty="0" err="1">
                <a:effectLst/>
              </a:rPr>
              <a:t>seg</a:t>
            </a:r>
            <a:r>
              <a:rPr lang="es-MX" sz="1600" dirty="0">
                <a:effectLst/>
              </a:rPr>
              <a:t>).</a:t>
            </a:r>
            <a:endParaRPr lang="es-ES" sz="160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48CDF55-3B77-4F5B-A4C2-E2C28FF98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3717032"/>
            <a:ext cx="3942857" cy="19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3435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s-MX" altLang="es-MX"/>
          </a:p>
        </p:txBody>
      </p:sp>
      <p:sp>
        <p:nvSpPr>
          <p:cNvPr id="10245" name="6 CuadroTexto"/>
          <p:cNvSpPr txBox="1">
            <a:spLocks noChangeArrowheads="1"/>
          </p:cNvSpPr>
          <p:nvPr/>
        </p:nvSpPr>
        <p:spPr bwMode="auto">
          <a:xfrm>
            <a:off x="608891" y="2087027"/>
            <a:ext cx="7894198" cy="792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Hay tres técnicas básicas de modulación que transforman los </a:t>
            </a:r>
            <a:r>
              <a:rPr lang="es-MX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datos digitales 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en </a:t>
            </a:r>
            <a:r>
              <a:rPr lang="es-MX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señales analógicas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:</a:t>
            </a:r>
          </a:p>
        </p:txBody>
      </p:sp>
      <p:sp>
        <p:nvSpPr>
          <p:cNvPr id="10248" name="9 CuadroTexto"/>
          <p:cNvSpPr txBox="1">
            <a:spLocks noChangeArrowheads="1"/>
          </p:cNvSpPr>
          <p:nvPr/>
        </p:nvSpPr>
        <p:spPr bwMode="auto">
          <a:xfrm>
            <a:off x="618273" y="3023283"/>
            <a:ext cx="7000875" cy="1028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altLang="es-MX" sz="14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PSK</a:t>
            </a:r>
            <a:r>
              <a:rPr lang="es-MX" altLang="es-MX" sz="1400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(</a:t>
            </a:r>
            <a:r>
              <a:rPr lang="es-MX" altLang="es-MX" sz="1400" dirty="0" err="1">
                <a:solidFill>
                  <a:schemeClr val="bg2">
                    <a:lumMod val="25000"/>
                  </a:schemeClr>
                </a:solidFill>
                <a:latin typeface="ZapfHumnst BT"/>
              </a:rPr>
              <a:t>Phase</a:t>
            </a:r>
            <a:r>
              <a:rPr lang="es-MX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Shift </a:t>
            </a:r>
            <a:r>
              <a:rPr lang="es-MX" altLang="es-MX" sz="1400" dirty="0" err="1">
                <a:solidFill>
                  <a:schemeClr val="bg2">
                    <a:lumMod val="25000"/>
                  </a:schemeClr>
                </a:solidFill>
                <a:latin typeface="ZapfHumnst BT"/>
              </a:rPr>
              <a:t>Keying</a:t>
            </a:r>
            <a:r>
              <a:rPr lang="es-MX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– Modulación por desplazamiento de fase)</a:t>
            </a:r>
          </a:p>
          <a:p>
            <a:pPr algn="just">
              <a:lnSpc>
                <a:spcPct val="150000"/>
              </a:lnSpc>
            </a:pPr>
            <a:r>
              <a:rPr lang="es-MX" altLang="es-MX" sz="14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ASK</a:t>
            </a:r>
            <a:r>
              <a:rPr lang="es-MX" altLang="es-MX" sz="1400" dirty="0">
                <a:solidFill>
                  <a:schemeClr val="accent3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(Amplitud Shift </a:t>
            </a:r>
            <a:r>
              <a:rPr lang="es-MX" altLang="es-MX" sz="1400" dirty="0" err="1">
                <a:solidFill>
                  <a:schemeClr val="bg2">
                    <a:lumMod val="25000"/>
                  </a:schemeClr>
                </a:solidFill>
                <a:latin typeface="ZapfHumnst BT"/>
              </a:rPr>
              <a:t>Keying</a:t>
            </a:r>
            <a:r>
              <a:rPr lang="es-MX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– Modulación por desplazamiento de amplitud)</a:t>
            </a:r>
          </a:p>
          <a:p>
            <a:pPr algn="just">
              <a:lnSpc>
                <a:spcPct val="150000"/>
              </a:lnSpc>
            </a:pPr>
            <a:r>
              <a:rPr lang="es-MX" altLang="es-MX" sz="14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FSK</a:t>
            </a:r>
            <a:r>
              <a:rPr lang="es-MX" altLang="es-MX" sz="1400" dirty="0">
                <a:solidFill>
                  <a:schemeClr val="accent3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(</a:t>
            </a:r>
            <a:r>
              <a:rPr lang="es-MX" altLang="es-MX" sz="1400" dirty="0" err="1">
                <a:solidFill>
                  <a:schemeClr val="bg2">
                    <a:lumMod val="25000"/>
                  </a:schemeClr>
                </a:solidFill>
                <a:latin typeface="ZapfHumnst BT"/>
              </a:rPr>
              <a:t>Frecuency</a:t>
            </a:r>
            <a:r>
              <a:rPr lang="es-MX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Shift </a:t>
            </a:r>
            <a:r>
              <a:rPr lang="es-MX" altLang="es-MX" sz="1400" dirty="0" err="1">
                <a:solidFill>
                  <a:schemeClr val="bg2">
                    <a:lumMod val="25000"/>
                  </a:schemeClr>
                </a:solidFill>
                <a:latin typeface="ZapfHumnst BT"/>
              </a:rPr>
              <a:t>Keying</a:t>
            </a:r>
            <a:r>
              <a:rPr lang="es-MX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– Modulación por desplazamiento de frecuencia)</a:t>
            </a:r>
          </a:p>
        </p:txBody>
      </p:sp>
      <p:sp>
        <p:nvSpPr>
          <p:cNvPr id="2" name="Text Box 5">
            <a:extLst>
              <a:ext uri="{FF2B5EF4-FFF2-40B4-BE49-F238E27FC236}">
                <a16:creationId xmlns:a16="http://schemas.microsoft.com/office/drawing/2014/main" id="{70BF1A5C-C5E7-14F5-5178-C5CC6EB29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716" y="655191"/>
            <a:ext cx="5112568" cy="56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Ondas Electromagnéticas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4B25DC-6143-1BE4-25C1-BCA0EA3578FF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-2738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inalámbricos</a:t>
            </a:r>
          </a:p>
        </p:txBody>
      </p:sp>
      <p:sp>
        <p:nvSpPr>
          <p:cNvPr id="22" name="5 CuadroTexto">
            <a:extLst>
              <a:ext uri="{FF2B5EF4-FFF2-40B4-BE49-F238E27FC236}">
                <a16:creationId xmlns:a16="http://schemas.microsoft.com/office/drawing/2014/main" id="{4B6E1899-8278-2CC4-5774-502617FB0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872" y="1259091"/>
            <a:ext cx="7926217" cy="792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La </a:t>
            </a:r>
            <a:r>
              <a:rPr lang="es-MX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modulación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implica la modificación de uno o varios de los tres parámetros fundamentales que caracterizan a la señal portadora: la </a:t>
            </a:r>
            <a:r>
              <a:rPr lang="es-MX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amplitud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, la </a:t>
            </a:r>
            <a:r>
              <a:rPr lang="es-MX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frecuencia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o la </a:t>
            </a:r>
            <a:r>
              <a:rPr lang="es-MX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fase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. </a:t>
            </a:r>
            <a:endParaRPr lang="es-MX" altLang="es-MX" sz="1600" b="1" dirty="0">
              <a:solidFill>
                <a:schemeClr val="bg2">
                  <a:lumMod val="25000"/>
                </a:schemeClr>
              </a:solidFill>
              <a:latin typeface="ZapfHumnst BT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5BF52E59-DF93-DD71-71F0-C07330B3A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4293096"/>
            <a:ext cx="3993707" cy="228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89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/>
      <p:bldP spid="10248" grpId="0"/>
      <p:bldP spid="2" grpId="0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s-MX" altLang="es-MX"/>
          </a:p>
        </p:txBody>
      </p:sp>
      <p:sp>
        <p:nvSpPr>
          <p:cNvPr id="10244" name="7 CuadroTexto"/>
          <p:cNvSpPr txBox="1">
            <a:spLocks noChangeArrowheads="1"/>
          </p:cNvSpPr>
          <p:nvPr/>
        </p:nvSpPr>
        <p:spPr bwMode="auto">
          <a:xfrm>
            <a:off x="467544" y="1134910"/>
            <a:ext cx="74295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altLang="es-MX" sz="20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altLang="es-MX" sz="18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ASK</a:t>
            </a:r>
            <a:r>
              <a:rPr lang="es-MX" altLang="es-MX" sz="1800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 (Modulación por desplazamiento de amplitud)</a:t>
            </a:r>
          </a:p>
        </p:txBody>
      </p:sp>
      <p:sp>
        <p:nvSpPr>
          <p:cNvPr id="11269" name="16 Rectángulo"/>
          <p:cNvSpPr>
            <a:spLocks noChangeArrowheads="1"/>
          </p:cNvSpPr>
          <p:nvPr/>
        </p:nvSpPr>
        <p:spPr bwMode="auto">
          <a:xfrm>
            <a:off x="539552" y="1642910"/>
            <a:ext cx="7715250" cy="1027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Es una forma de modulación en la cual se representan los </a:t>
            </a:r>
            <a:r>
              <a:rPr lang="es-MX" altLang="es-MX" sz="14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datos digitales </a:t>
            </a:r>
            <a:r>
              <a:rPr lang="es-MX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como variaciones de </a:t>
            </a:r>
            <a:r>
              <a:rPr lang="es-MX" altLang="es-MX" sz="14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amplitud </a:t>
            </a:r>
            <a:r>
              <a:rPr lang="es-MX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de la </a:t>
            </a:r>
            <a:r>
              <a:rPr lang="es-MX" altLang="es-MX" sz="14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señal portadora</a:t>
            </a:r>
            <a:r>
              <a:rPr lang="es-ES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, manteniendo la </a:t>
            </a:r>
            <a:r>
              <a:rPr lang="es-ES" altLang="es-MX" sz="14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frecuencia</a:t>
            </a:r>
            <a:r>
              <a:rPr lang="es-ES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y la </a:t>
            </a:r>
            <a:r>
              <a:rPr lang="es-ES" altLang="es-MX" sz="14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fase</a:t>
            </a:r>
            <a:r>
              <a:rPr lang="es-ES" altLang="es-MX" sz="14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constante. El nivel de amplitud puede ser usado para representar los valores binarios 0s y 1s. </a:t>
            </a:r>
            <a:endParaRPr lang="es-MX" altLang="es-MX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0247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533" y="4664366"/>
            <a:ext cx="3001963" cy="199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8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323" y="2729204"/>
            <a:ext cx="5737225" cy="193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Box 5">
            <a:extLst>
              <a:ext uri="{FF2B5EF4-FFF2-40B4-BE49-F238E27FC236}">
                <a16:creationId xmlns:a16="http://schemas.microsoft.com/office/drawing/2014/main" id="{407EBD79-48BE-BC8E-74C1-8E074B8DE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212" y="545382"/>
            <a:ext cx="5112568" cy="56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Ondas Electromagnéticas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DE9DCD-04B8-4914-0032-4EFFA1E404B7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-137193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inalámbricos</a:t>
            </a:r>
          </a:p>
        </p:txBody>
      </p:sp>
    </p:spTree>
    <p:extLst>
      <p:ext uri="{BB962C8B-B14F-4D97-AF65-F5344CB8AC3E}">
        <p14:creationId xmlns:p14="http://schemas.microsoft.com/office/powerpoint/2010/main" val="2387749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/>
      <p:bldP spid="11269" grpId="0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s-MX" altLang="es-MX"/>
          </a:p>
        </p:txBody>
      </p:sp>
      <p:sp>
        <p:nvSpPr>
          <p:cNvPr id="13316" name="7 CuadroTexto"/>
          <p:cNvSpPr txBox="1">
            <a:spLocks noChangeArrowheads="1"/>
          </p:cNvSpPr>
          <p:nvPr/>
        </p:nvSpPr>
        <p:spPr bwMode="auto">
          <a:xfrm>
            <a:off x="500062" y="1183145"/>
            <a:ext cx="6286500" cy="506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altLang="es-MX" sz="20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 </a:t>
            </a:r>
            <a:r>
              <a:rPr lang="es-MX" altLang="es-MX" sz="18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FSK</a:t>
            </a:r>
            <a:r>
              <a:rPr lang="es-MX" altLang="es-MX" sz="1800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 (Modulación por desplazamiento de frecuencia)</a:t>
            </a:r>
          </a:p>
        </p:txBody>
      </p:sp>
      <p:sp>
        <p:nvSpPr>
          <p:cNvPr id="13317" name="16 Rectángulo"/>
          <p:cNvSpPr>
            <a:spLocks noChangeArrowheads="1"/>
          </p:cNvSpPr>
          <p:nvPr/>
        </p:nvSpPr>
        <p:spPr bwMode="auto">
          <a:xfrm>
            <a:off x="539552" y="1659783"/>
            <a:ext cx="7786688" cy="786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Es una modulación en la cual se representan los </a:t>
            </a:r>
            <a:r>
              <a:rPr lang="es-MX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datos digitales 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como variaciones de </a:t>
            </a:r>
            <a:r>
              <a:rPr lang="es-MX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frecuencia 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de la </a:t>
            </a:r>
            <a:r>
              <a:rPr lang="es-MX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portadora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,</a:t>
            </a:r>
            <a:r>
              <a:rPr lang="es-ES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manteniendo la </a:t>
            </a:r>
            <a:r>
              <a:rPr lang="es-ES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amplitud</a:t>
            </a:r>
            <a:r>
              <a:rPr lang="es-ES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y la </a:t>
            </a:r>
            <a:r>
              <a:rPr lang="es-ES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fase </a:t>
            </a:r>
            <a:r>
              <a:rPr lang="es-ES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constantes. </a:t>
            </a:r>
            <a:endParaRPr lang="es-MX" altLang="es-MX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331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50" y="2643188"/>
            <a:ext cx="5745163" cy="196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963" y="4497388"/>
            <a:ext cx="3208337" cy="200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Box 5">
            <a:extLst>
              <a:ext uri="{FF2B5EF4-FFF2-40B4-BE49-F238E27FC236}">
                <a16:creationId xmlns:a16="http://schemas.microsoft.com/office/drawing/2014/main" id="{CE4CCE16-CAFC-DA73-4A7A-DEFE0EA0D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716" y="655191"/>
            <a:ext cx="5112568" cy="56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Ondas Electromagnéticas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C29C7D-7A92-42B2-8352-C43DF6994386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-2738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inalámbricos</a:t>
            </a:r>
          </a:p>
        </p:txBody>
      </p:sp>
    </p:spTree>
    <p:extLst>
      <p:ext uri="{BB962C8B-B14F-4D97-AF65-F5344CB8AC3E}">
        <p14:creationId xmlns:p14="http://schemas.microsoft.com/office/powerpoint/2010/main" val="1734762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/>
      <p:bldP spid="13317" grpId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endParaRPr lang="es-MX" altLang="es-MX"/>
          </a:p>
        </p:txBody>
      </p:sp>
      <p:sp>
        <p:nvSpPr>
          <p:cNvPr id="15364" name="7 CuadroTexto"/>
          <p:cNvSpPr txBox="1">
            <a:spLocks noChangeArrowheads="1"/>
          </p:cNvSpPr>
          <p:nvPr/>
        </p:nvSpPr>
        <p:spPr bwMode="auto">
          <a:xfrm>
            <a:off x="611560" y="1293914"/>
            <a:ext cx="7429500" cy="464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altLang="es-MX" sz="1800" b="1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PSK</a:t>
            </a:r>
            <a:r>
              <a:rPr lang="es-MX" altLang="es-MX" sz="1800" dirty="0">
                <a:solidFill>
                  <a:schemeClr val="accent5">
                    <a:lumMod val="75000"/>
                  </a:schemeClr>
                </a:solidFill>
                <a:latin typeface="ZapfHumnst BT"/>
              </a:rPr>
              <a:t> (Modulación por desplazamiento de fase)</a:t>
            </a:r>
          </a:p>
        </p:txBody>
      </p:sp>
      <p:sp>
        <p:nvSpPr>
          <p:cNvPr id="15365" name="16 Rectángulo"/>
          <p:cNvSpPr>
            <a:spLocks noChangeArrowheads="1"/>
          </p:cNvSpPr>
          <p:nvPr/>
        </p:nvSpPr>
        <p:spPr bwMode="auto">
          <a:xfrm>
            <a:off x="587118" y="1774479"/>
            <a:ext cx="7929563" cy="792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Es una forma de modulación consistente en hacer variar la </a:t>
            </a:r>
            <a:r>
              <a:rPr lang="es-MX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fase</a:t>
            </a:r>
            <a:r>
              <a:rPr lang="es-MX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de la portadora. La fase de la señal portadora </a:t>
            </a:r>
            <a:r>
              <a:rPr lang="es-ES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varía, manteniendo la </a:t>
            </a:r>
            <a:r>
              <a:rPr lang="es-ES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amplitud</a:t>
            </a:r>
            <a:r>
              <a:rPr lang="es-ES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y la </a:t>
            </a:r>
            <a:r>
              <a:rPr lang="es-ES" altLang="es-MX" sz="1600" b="1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frecuencia</a:t>
            </a:r>
            <a:r>
              <a:rPr lang="es-ES" altLang="es-MX" sz="1600" dirty="0">
                <a:solidFill>
                  <a:schemeClr val="bg2">
                    <a:lumMod val="25000"/>
                  </a:schemeClr>
                </a:solidFill>
                <a:latin typeface="ZapfHumnst BT"/>
              </a:rPr>
              <a:t> constantes. </a:t>
            </a:r>
            <a:endParaRPr lang="es-MX" altLang="es-MX" sz="1600" dirty="0">
              <a:solidFill>
                <a:schemeClr val="bg2">
                  <a:lumMod val="25000"/>
                </a:schemeClr>
              </a:solidFill>
              <a:latin typeface="ZapfHumnst BT"/>
            </a:endParaRPr>
          </a:p>
        </p:txBody>
      </p:sp>
      <p:pic>
        <p:nvPicPr>
          <p:cNvPr id="153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50" y="2892425"/>
            <a:ext cx="5745163" cy="196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7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800" y="4651375"/>
            <a:ext cx="2751138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Box 5">
            <a:extLst>
              <a:ext uri="{FF2B5EF4-FFF2-40B4-BE49-F238E27FC236}">
                <a16:creationId xmlns:a16="http://schemas.microsoft.com/office/drawing/2014/main" id="{7A04161C-F0F4-99B4-B489-CC2AC9F9A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716" y="655191"/>
            <a:ext cx="5112568" cy="568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200000"/>
              </a:lnSpc>
              <a:spcBef>
                <a:spcPct val="50000"/>
              </a:spcBef>
            </a:pPr>
            <a:r>
              <a:rPr lang="es-MX" sz="18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Ondas Electromagnéticas</a:t>
            </a:r>
            <a:endParaRPr lang="es-MX" sz="18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ABDBB6-361C-12DF-1021-2C1192F0B7A4}"/>
              </a:ext>
            </a:extLst>
          </p:cNvPr>
          <p:cNvSpPr txBox="1">
            <a:spLocks noChangeArrowheads="1"/>
          </p:cNvSpPr>
          <p:nvPr/>
        </p:nvSpPr>
        <p:spPr>
          <a:xfrm>
            <a:off x="107504" y="-2738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inalámbricos</a:t>
            </a:r>
          </a:p>
        </p:txBody>
      </p:sp>
    </p:spTree>
    <p:extLst>
      <p:ext uri="{BB962C8B-B14F-4D97-AF65-F5344CB8AC3E}">
        <p14:creationId xmlns:p14="http://schemas.microsoft.com/office/powerpoint/2010/main" val="3173294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/>
      <p:bldP spid="15365" grpId="0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F0C5F356-F18D-49BB-9CA9-E85B9B1C6FDB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118410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inalámbricos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655D82-CF78-44F8-8E33-B4AB4AD15D84}"/>
              </a:ext>
            </a:extLst>
          </p:cNvPr>
          <p:cNvSpPr txBox="1"/>
          <p:nvPr/>
        </p:nvSpPr>
        <p:spPr>
          <a:xfrm>
            <a:off x="888257" y="1988840"/>
            <a:ext cx="3323703" cy="1703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i="0" dirty="0">
                <a:solidFill>
                  <a:schemeClr val="bg2">
                    <a:lumMod val="25000"/>
                  </a:schemeClr>
                </a:solidFill>
                <a:effectLst/>
                <a:latin typeface="Century Gothic" panose="020B0502020202020204" pitchFamily="34" charset="0"/>
              </a:rPr>
              <a:t>Ondas de radio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rPr>
              <a:t>Microondas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i="0" dirty="0">
                <a:solidFill>
                  <a:schemeClr val="bg2">
                    <a:lumMod val="25000"/>
                  </a:schemeClr>
                </a:solidFill>
                <a:effectLst/>
                <a:latin typeface="Century Gothic" panose="020B0502020202020204" pitchFamily="34" charset="0"/>
              </a:rPr>
              <a:t>Satélites</a:t>
            </a:r>
          </a:p>
          <a:p>
            <a:pPr algn="l"/>
            <a:endParaRPr lang="es-ES" sz="1400" b="0" i="0" dirty="0">
              <a:solidFill>
                <a:srgbClr val="333333"/>
              </a:solidFill>
              <a:effectLst/>
              <a:latin typeface="AsapRegular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endParaRPr lang="es-MX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" name="Imagen 2" descr="Imagen que contiene objeto, computadora, reloj, computer&#10;&#10;Descripción generada automáticamente">
            <a:extLst>
              <a:ext uri="{FF2B5EF4-FFF2-40B4-BE49-F238E27FC236}">
                <a16:creationId xmlns:a16="http://schemas.microsoft.com/office/drawing/2014/main" id="{4A03548A-9A3E-412E-9B56-FD9679D267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2348880"/>
            <a:ext cx="6829425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781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7 CuadroTexto">
            <a:extLst>
              <a:ext uri="{FF2B5EF4-FFF2-40B4-BE49-F238E27FC236}">
                <a16:creationId xmlns:a16="http://schemas.microsoft.com/office/drawing/2014/main" id="{7FAD1FBE-413E-41FE-966F-61F006016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3728" y="555585"/>
            <a:ext cx="5080620" cy="506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altLang="es-MX" sz="20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Ondas de radio</a:t>
            </a:r>
            <a:endParaRPr lang="es-MX" altLang="es-MX" sz="20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0C5F356-F18D-49BB-9CA9-E85B9B1C6FDB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-170182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inalámbricos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655D82-CF78-44F8-8E33-B4AB4AD15D84}"/>
              </a:ext>
            </a:extLst>
          </p:cNvPr>
          <p:cNvSpPr txBox="1"/>
          <p:nvPr/>
        </p:nvSpPr>
        <p:spPr>
          <a:xfrm>
            <a:off x="539552" y="1196752"/>
            <a:ext cx="8280920" cy="134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</a:rPr>
              <a:t>Son las más usadas, s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e emplean para transmitir información por el aire, tales como: Emisiones de </a:t>
            </a:r>
            <a:r>
              <a:rPr lang="es-ES" sz="1400" b="1" dirty="0">
                <a:solidFill>
                  <a:schemeClr val="bg2">
                    <a:lumMod val="25000"/>
                  </a:schemeClr>
                </a:solidFill>
              </a:rPr>
              <a:t>radio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, </a:t>
            </a:r>
            <a:r>
              <a:rPr lang="es-ES" sz="1400" b="1" dirty="0">
                <a:solidFill>
                  <a:schemeClr val="bg2">
                    <a:lumMod val="25000"/>
                  </a:schemeClr>
                </a:solidFill>
              </a:rPr>
              <a:t>televisión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 o </a:t>
            </a:r>
            <a:r>
              <a:rPr lang="es-ES" sz="1400" b="1" dirty="0" err="1">
                <a:solidFill>
                  <a:schemeClr val="bg2">
                    <a:lumMod val="25000"/>
                  </a:schemeClr>
                </a:solidFill>
              </a:rPr>
              <a:t>WiFi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.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</a:rPr>
              <a:t>Tienen un rango de ancho de banda entre 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3 </a:t>
            </a:r>
            <a:r>
              <a:rPr lang="es-MX" sz="1400" b="1" dirty="0" err="1">
                <a:solidFill>
                  <a:schemeClr val="accent6">
                    <a:lumMod val="75000"/>
                  </a:schemeClr>
                </a:solidFill>
              </a:rPr>
              <a:t>Khz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</a:rPr>
              <a:t>y los 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</a:rPr>
              <a:t>300 </a:t>
            </a:r>
            <a:r>
              <a:rPr lang="es-MX" sz="1400" b="1" dirty="0" err="1">
                <a:solidFill>
                  <a:schemeClr val="accent6">
                    <a:lumMod val="75000"/>
                  </a:schemeClr>
                </a:solidFill>
              </a:rPr>
              <a:t>Ghz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</a:rPr>
              <a:t>. </a:t>
            </a:r>
            <a:endParaRPr lang="es-ES" sz="1400" b="0" i="0" dirty="0">
              <a:solidFill>
                <a:srgbClr val="333333"/>
              </a:solidFill>
              <a:effectLst/>
              <a:latin typeface="AsapRegular"/>
            </a:endParaRPr>
          </a:p>
          <a:p>
            <a:pPr marL="285750" indent="-285750" algn="just">
              <a:lnSpc>
                <a:spcPts val="2500"/>
              </a:lnSpc>
              <a:buFont typeface="Wingdings" panose="05000000000000000000" pitchFamily="2" charset="2"/>
              <a:buChar char="ü"/>
            </a:pPr>
            <a:endParaRPr lang="es-MX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CuadroTexto 6">
            <a:extLst>
              <a:ext uri="{FF2B5EF4-FFF2-40B4-BE49-F238E27FC236}">
                <a16:creationId xmlns:a16="http://schemas.microsoft.com/office/drawing/2014/main" id="{EBE26D59-1BA6-B2FD-FC89-9168301CB340}"/>
              </a:ext>
            </a:extLst>
          </p:cNvPr>
          <p:cNvSpPr txBox="1"/>
          <p:nvPr/>
        </p:nvSpPr>
        <p:spPr>
          <a:xfrm>
            <a:off x="538784" y="2204864"/>
            <a:ext cx="8515460" cy="2303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ES" sz="1400" b="0" i="0" dirty="0">
                <a:solidFill>
                  <a:srgbClr val="333333"/>
                </a:solidFill>
                <a:effectLst/>
                <a:latin typeface="AsapRegular"/>
              </a:rPr>
              <a:t>El rango de frecuencias que habitualmente se utilizan en las comunicaciones:</a:t>
            </a:r>
          </a:p>
          <a:p>
            <a:pPr marL="800100" lvl="1" indent="-342900">
              <a:lnSpc>
                <a:spcPts val="2500"/>
              </a:lnSpc>
              <a:buFont typeface="+mj-lt"/>
              <a:buAutoNum type="arabicPeriod"/>
            </a:pPr>
            <a:r>
              <a:rPr lang="es-MX" sz="1400" b="1" i="0" dirty="0">
                <a:solidFill>
                  <a:srgbClr val="FF0000"/>
                </a:solidFill>
                <a:effectLst/>
                <a:latin typeface="AsapRegular"/>
              </a:rPr>
              <a:t>Radio AM: </a:t>
            </a:r>
            <a:r>
              <a:rPr lang="es-MX" sz="1400" b="0" i="0" dirty="0">
                <a:solidFill>
                  <a:srgbClr val="333333"/>
                </a:solidFill>
                <a:effectLst/>
                <a:latin typeface="AsapRegular"/>
              </a:rPr>
              <a:t>Alrededor de </a:t>
            </a:r>
            <a:r>
              <a:rPr lang="es-MX" sz="1400" b="1" i="0" dirty="0">
                <a:solidFill>
                  <a:srgbClr val="333333"/>
                </a:solidFill>
                <a:effectLst/>
                <a:latin typeface="AsapRegular"/>
              </a:rPr>
              <a:t>10MHz</a:t>
            </a:r>
          </a:p>
          <a:p>
            <a:pPr marL="800100" lvl="1" indent="-342900">
              <a:lnSpc>
                <a:spcPts val="2500"/>
              </a:lnSpc>
              <a:buFont typeface="+mj-lt"/>
              <a:buAutoNum type="arabicPeriod"/>
            </a:pPr>
            <a:r>
              <a:rPr lang="es-MX" sz="1400" b="1" i="0" dirty="0">
                <a:solidFill>
                  <a:srgbClr val="FF0000"/>
                </a:solidFill>
                <a:effectLst/>
                <a:latin typeface="AsapRegular"/>
              </a:rPr>
              <a:t>Radio FM: </a:t>
            </a:r>
            <a:r>
              <a:rPr lang="es-MX" sz="1400" b="0" i="0" dirty="0">
                <a:solidFill>
                  <a:srgbClr val="333333"/>
                </a:solidFill>
                <a:effectLst/>
                <a:latin typeface="AsapRegular"/>
              </a:rPr>
              <a:t>Alrededor de </a:t>
            </a:r>
            <a:r>
              <a:rPr lang="es-MX" sz="1400" b="1" i="0" dirty="0">
                <a:solidFill>
                  <a:srgbClr val="333333"/>
                </a:solidFill>
                <a:effectLst/>
                <a:latin typeface="AsapRegular"/>
              </a:rPr>
              <a:t>100MHz</a:t>
            </a:r>
          </a:p>
          <a:p>
            <a:pPr marL="800100" lvl="1" indent="-342900">
              <a:lnSpc>
                <a:spcPts val="2500"/>
              </a:lnSpc>
              <a:buFont typeface="+mj-lt"/>
              <a:buAutoNum type="arabicPeriod"/>
            </a:pPr>
            <a:r>
              <a:rPr lang="es-MX" sz="1400" b="1" i="0" dirty="0">
                <a:solidFill>
                  <a:srgbClr val="FF0000"/>
                </a:solidFill>
                <a:effectLst/>
                <a:latin typeface="AsapRegular"/>
              </a:rPr>
              <a:t>Televisión: </a:t>
            </a:r>
            <a:r>
              <a:rPr lang="es-MX" sz="1400" b="0" i="0" dirty="0">
                <a:solidFill>
                  <a:srgbClr val="333333"/>
                </a:solidFill>
                <a:effectLst/>
                <a:latin typeface="AsapRegular"/>
              </a:rPr>
              <a:t>Muchas frecuencias de </a:t>
            </a:r>
            <a:r>
              <a:rPr lang="es-MX" sz="1400" b="1" i="0" dirty="0">
                <a:solidFill>
                  <a:srgbClr val="333333"/>
                </a:solidFill>
                <a:effectLst/>
                <a:latin typeface="AsapRegular"/>
              </a:rPr>
              <a:t>470MHz </a:t>
            </a:r>
            <a:r>
              <a:rPr lang="es-MX" sz="1400" b="0" i="0" dirty="0">
                <a:solidFill>
                  <a:srgbClr val="333333"/>
                </a:solidFill>
                <a:effectLst/>
                <a:latin typeface="AsapRegular"/>
              </a:rPr>
              <a:t>a </a:t>
            </a:r>
            <a:r>
              <a:rPr lang="es-MX" sz="1400" b="1" i="0" dirty="0">
                <a:solidFill>
                  <a:srgbClr val="333333"/>
                </a:solidFill>
                <a:effectLst/>
                <a:latin typeface="AsapRegular"/>
              </a:rPr>
              <a:t>800MHz</a:t>
            </a:r>
            <a:r>
              <a:rPr lang="es-MX" sz="1400" b="0" i="0" dirty="0">
                <a:solidFill>
                  <a:srgbClr val="333333"/>
                </a:solidFill>
                <a:effectLst/>
                <a:latin typeface="AsapRegular"/>
              </a:rPr>
              <a:t>, y otras.</a:t>
            </a:r>
          </a:p>
          <a:p>
            <a:pPr marL="800100" lvl="1" indent="-342900">
              <a:lnSpc>
                <a:spcPts val="2500"/>
              </a:lnSpc>
              <a:buFont typeface="+mj-lt"/>
              <a:buAutoNum type="arabicPeriod"/>
            </a:pPr>
            <a:r>
              <a:rPr lang="es-MX" sz="1400" b="1" i="0" dirty="0">
                <a:solidFill>
                  <a:srgbClr val="FF0000"/>
                </a:solidFill>
                <a:effectLst/>
                <a:latin typeface="AsapRegular"/>
              </a:rPr>
              <a:t>Teléfonos celulares: </a:t>
            </a:r>
            <a:r>
              <a:rPr lang="es-MX" sz="1400" b="1" i="0" dirty="0">
                <a:solidFill>
                  <a:srgbClr val="333333"/>
                </a:solidFill>
                <a:effectLst/>
                <a:latin typeface="AsapRegular"/>
              </a:rPr>
              <a:t>850MHz</a:t>
            </a:r>
            <a:r>
              <a:rPr lang="es-MX" sz="1400" b="0" i="0" dirty="0">
                <a:solidFill>
                  <a:srgbClr val="333333"/>
                </a:solidFill>
                <a:effectLst/>
                <a:latin typeface="AsapRegular"/>
              </a:rPr>
              <a:t>, </a:t>
            </a:r>
            <a:r>
              <a:rPr lang="es-MX" sz="1400" b="1" i="0" dirty="0">
                <a:solidFill>
                  <a:srgbClr val="333333"/>
                </a:solidFill>
                <a:effectLst/>
                <a:latin typeface="AsapRegular"/>
              </a:rPr>
              <a:t>1900MHz</a:t>
            </a:r>
            <a:r>
              <a:rPr lang="es-MX" sz="1400" b="0" i="0" dirty="0">
                <a:solidFill>
                  <a:srgbClr val="333333"/>
                </a:solidFill>
                <a:effectLst/>
                <a:latin typeface="AsapRegular"/>
              </a:rPr>
              <a:t>, y otras</a:t>
            </a:r>
          </a:p>
          <a:p>
            <a:pPr marL="800100" lvl="1" indent="-342900">
              <a:lnSpc>
                <a:spcPts val="2500"/>
              </a:lnSpc>
              <a:buFont typeface="+mj-lt"/>
              <a:buAutoNum type="arabicPeriod"/>
            </a:pPr>
            <a:r>
              <a:rPr lang="es-MX" sz="1400" b="1" i="0" dirty="0" err="1">
                <a:solidFill>
                  <a:srgbClr val="FF0000"/>
                </a:solidFill>
                <a:effectLst/>
                <a:latin typeface="AsapRegular"/>
              </a:rPr>
              <a:t>Wi</a:t>
            </a:r>
            <a:r>
              <a:rPr lang="es-MX" sz="1400" b="1" i="0" dirty="0">
                <a:solidFill>
                  <a:srgbClr val="FF0000"/>
                </a:solidFill>
                <a:effectLst/>
                <a:latin typeface="AsapRegular"/>
              </a:rPr>
              <a:t>-Fi: </a:t>
            </a:r>
            <a:r>
              <a:rPr lang="es-MX" sz="1400" b="1" i="0" dirty="0">
                <a:solidFill>
                  <a:schemeClr val="bg2">
                    <a:lumMod val="25000"/>
                  </a:schemeClr>
                </a:solidFill>
                <a:effectLst/>
                <a:latin typeface="AsapRegular"/>
              </a:rPr>
              <a:t>2.4GHz y 5GHz</a:t>
            </a:r>
          </a:p>
          <a:p>
            <a:pPr marL="800100" lvl="1" indent="-342900">
              <a:lnSpc>
                <a:spcPts val="2500"/>
              </a:lnSpc>
              <a:buFont typeface="+mj-lt"/>
              <a:buAutoNum type="arabicPeriod"/>
            </a:pPr>
            <a:r>
              <a:rPr lang="es-MX" sz="1400" b="1" i="0" dirty="0">
                <a:solidFill>
                  <a:srgbClr val="FF0000"/>
                </a:solidFill>
                <a:effectLst/>
                <a:latin typeface="AsapRegular"/>
              </a:rPr>
              <a:t>Satélite: </a:t>
            </a:r>
            <a:r>
              <a:rPr lang="es-MX" sz="1400" b="1" i="0" dirty="0">
                <a:solidFill>
                  <a:srgbClr val="333333"/>
                </a:solidFill>
                <a:effectLst/>
                <a:latin typeface="AsapRegular"/>
              </a:rPr>
              <a:t>3.5GHz</a:t>
            </a:r>
            <a:endParaRPr lang="es-MX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8" name="Imagen 3" descr="Un conjunto de letras negras en un fondo negro&#10;&#10;Descripción generada automáticamente con confianza baja">
            <a:extLst>
              <a:ext uri="{FF2B5EF4-FFF2-40B4-BE49-F238E27FC236}">
                <a16:creationId xmlns:a16="http://schemas.microsoft.com/office/drawing/2014/main" id="{B32CDED6-C0EF-943A-0817-12687F97A7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4941168"/>
            <a:ext cx="6299969" cy="119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0687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7 CuadroTexto">
            <a:extLst>
              <a:ext uri="{FF2B5EF4-FFF2-40B4-BE49-F238E27FC236}">
                <a16:creationId xmlns:a16="http://schemas.microsoft.com/office/drawing/2014/main" id="{7FAD1FBE-413E-41FE-966F-61F006016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5980" y="906484"/>
            <a:ext cx="5080620" cy="506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altLang="es-MX" sz="20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Microondas</a:t>
            </a:r>
            <a:endParaRPr lang="es-MX" altLang="es-MX" sz="20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0C5F356-F18D-49BB-9CA9-E85B9B1C6FDB}"/>
              </a:ext>
            </a:extLst>
          </p:cNvPr>
          <p:cNvSpPr txBox="1">
            <a:spLocks noChangeArrowheads="1"/>
          </p:cNvSpPr>
          <p:nvPr/>
        </p:nvSpPr>
        <p:spPr>
          <a:xfrm>
            <a:off x="72008" y="180717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inalámbricos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655D82-CF78-44F8-8E33-B4AB4AD15D84}"/>
              </a:ext>
            </a:extLst>
          </p:cNvPr>
          <p:cNvSpPr txBox="1"/>
          <p:nvPr/>
        </p:nvSpPr>
        <p:spPr>
          <a:xfrm>
            <a:off x="827584" y="1700808"/>
            <a:ext cx="4752528" cy="2778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Su ancho de banda varia entre 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300 MHz y 300 GHz</a:t>
            </a:r>
            <a:r>
              <a:rPr lang="es-MX" sz="1400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.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 </a:t>
            </a:r>
          </a:p>
          <a:p>
            <a:pPr marL="285750" indent="-285750" algn="just"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Para la comunicación de microondas terrestres se deben usar antenas parabólicas, las cuales deben estar </a:t>
            </a:r>
            <a:r>
              <a:rPr lang="es-ES" sz="1400" b="1" dirty="0">
                <a:solidFill>
                  <a:schemeClr val="bg2">
                    <a:lumMod val="25000"/>
                  </a:schemeClr>
                </a:solidFill>
              </a:rPr>
              <a:t>alineadas 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o tener visión directa entre ellas, además entre mayor sea la </a:t>
            </a:r>
            <a:r>
              <a:rPr lang="es-ES" sz="1400" b="1" dirty="0">
                <a:solidFill>
                  <a:schemeClr val="bg2">
                    <a:lumMod val="25000"/>
                  </a:schemeClr>
                </a:solidFill>
              </a:rPr>
              <a:t>altura 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mayor el alcance.</a:t>
            </a:r>
          </a:p>
          <a:p>
            <a:pPr marL="285750" indent="-285750" algn="just"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Sus problemas se dan perdidas de datos por </a:t>
            </a:r>
            <a:r>
              <a:rPr lang="es-ES" sz="1400" b="1" dirty="0">
                <a:solidFill>
                  <a:schemeClr val="bg2">
                    <a:lumMod val="25000"/>
                  </a:schemeClr>
                </a:solidFill>
              </a:rPr>
              <a:t>atenuación 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e </a:t>
            </a:r>
            <a:r>
              <a:rPr lang="es-ES" sz="1400" b="1" dirty="0">
                <a:solidFill>
                  <a:schemeClr val="bg2">
                    <a:lumMod val="25000"/>
                  </a:schemeClr>
                </a:solidFill>
              </a:rPr>
              <a:t>interferencias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, y es muy sensible a las malas condiciones atmosféricas. </a:t>
            </a:r>
            <a:endParaRPr lang="es-MX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73CBBD8-E043-4F49-905C-053249402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576" y="1863037"/>
            <a:ext cx="2252599" cy="245380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B5D796C-627D-4EB0-BB0B-9CB2A248D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4767101"/>
            <a:ext cx="4087338" cy="123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790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Ratón de computadora&#10;&#10;Descripción generada automáticamente con confianza media">
            <a:extLst>
              <a:ext uri="{FF2B5EF4-FFF2-40B4-BE49-F238E27FC236}">
                <a16:creationId xmlns:a16="http://schemas.microsoft.com/office/drawing/2014/main" id="{F9DBA315-D833-45C2-8A3B-8583FBF6EF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0"/>
            <a:ext cx="2016224" cy="1975898"/>
          </a:xfrm>
          <a:prstGeom prst="rect">
            <a:avLst/>
          </a:prstGeom>
        </p:spPr>
      </p:pic>
      <p:sp>
        <p:nvSpPr>
          <p:cNvPr id="5" name="7 CuadroTexto">
            <a:extLst>
              <a:ext uri="{FF2B5EF4-FFF2-40B4-BE49-F238E27FC236}">
                <a16:creationId xmlns:a16="http://schemas.microsoft.com/office/drawing/2014/main" id="{7FAD1FBE-413E-41FE-966F-61F006016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752" y="906484"/>
            <a:ext cx="4846848" cy="506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altLang="es-MX" sz="20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Satélite</a:t>
            </a:r>
            <a:endParaRPr lang="es-MX" altLang="es-MX" sz="20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0C5F356-F18D-49BB-9CA9-E85B9B1C6FDB}"/>
              </a:ext>
            </a:extLst>
          </p:cNvPr>
          <p:cNvSpPr txBox="1">
            <a:spLocks noChangeArrowheads="1"/>
          </p:cNvSpPr>
          <p:nvPr/>
        </p:nvSpPr>
        <p:spPr>
          <a:xfrm>
            <a:off x="323528" y="180717"/>
            <a:ext cx="871296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Medios inalámbricos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655D82-CF78-44F8-8E33-B4AB4AD15D84}"/>
              </a:ext>
            </a:extLst>
          </p:cNvPr>
          <p:cNvSpPr txBox="1"/>
          <p:nvPr/>
        </p:nvSpPr>
        <p:spPr>
          <a:xfrm>
            <a:off x="299795" y="2045357"/>
            <a:ext cx="8280920" cy="700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Conocidos como </a:t>
            </a:r>
            <a:r>
              <a:rPr lang="es-ES" sz="1400" b="1" dirty="0">
                <a:solidFill>
                  <a:schemeClr val="accent5">
                    <a:lumMod val="75000"/>
                  </a:schemeClr>
                </a:solidFill>
              </a:rPr>
              <a:t>microondas por satélite 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realizan la transmisión de todo tipo de datos, imágenes, etc., según el fin con que se han creado. </a:t>
            </a:r>
            <a:endParaRPr lang="es-MX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789E670-2852-4EF3-9DE8-FE95E709D532}"/>
              </a:ext>
            </a:extLst>
          </p:cNvPr>
          <p:cNvSpPr txBox="1"/>
          <p:nvPr/>
        </p:nvSpPr>
        <p:spPr>
          <a:xfrm>
            <a:off x="323528" y="2813895"/>
            <a:ext cx="4248472" cy="3329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Un </a:t>
            </a:r>
            <a:r>
              <a:rPr lang="es-ES" sz="1400" b="1" dirty="0">
                <a:solidFill>
                  <a:schemeClr val="accent5">
                    <a:lumMod val="75000"/>
                  </a:schemeClr>
                </a:solidFill>
              </a:rPr>
              <a:t>satélite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 en si no procesa información, sino que actúan como un </a:t>
            </a:r>
            <a:r>
              <a:rPr lang="es-ES" sz="1400" b="1" dirty="0">
                <a:solidFill>
                  <a:schemeClr val="bg2">
                    <a:lumMod val="25000"/>
                  </a:schemeClr>
                </a:solidFill>
              </a:rPr>
              <a:t>repetidor-amplificador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 y puede cubrir un amplio espacio de espectro terrestre. </a:t>
            </a:r>
            <a:endParaRPr lang="es-MX" sz="1400" dirty="0">
              <a:solidFill>
                <a:schemeClr val="bg2">
                  <a:lumMod val="25000"/>
                </a:schemeClr>
              </a:solidFill>
            </a:endParaRPr>
          </a:p>
          <a:p>
            <a:pPr marL="285750" indent="-285750" algn="just"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Las microondas por satélite manejan un ancho de banda entre los 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</a:rPr>
              <a:t>3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 y los 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</a:rPr>
              <a:t>30 </a:t>
            </a:r>
            <a:r>
              <a:rPr lang="es-ES" sz="1400" b="1" dirty="0" err="1">
                <a:solidFill>
                  <a:schemeClr val="accent6">
                    <a:lumMod val="75000"/>
                  </a:schemeClr>
                </a:solidFill>
              </a:rPr>
              <a:t>Ghz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. </a:t>
            </a:r>
          </a:p>
          <a:p>
            <a:pPr marL="285750" indent="-285750" algn="just">
              <a:lnSpc>
                <a:spcPts val="2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</a:rPr>
              <a:t>Son usados para:</a:t>
            </a:r>
          </a:p>
          <a:p>
            <a:pPr marL="742950" lvl="1" indent="-285750" algn="just">
              <a:lnSpc>
                <a:spcPts val="25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s-ES" sz="1400" b="1" dirty="0">
                <a:solidFill>
                  <a:schemeClr val="accent5">
                    <a:lumMod val="75000"/>
                  </a:schemeClr>
                </a:solidFill>
              </a:rPr>
              <a:t>Sistemas de televisión.</a:t>
            </a:r>
          </a:p>
          <a:p>
            <a:pPr marL="742950" lvl="1" indent="-285750" algn="just">
              <a:lnSpc>
                <a:spcPts val="25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s-ES" sz="1400" b="1" dirty="0">
                <a:solidFill>
                  <a:schemeClr val="accent5">
                    <a:lumMod val="75000"/>
                  </a:schemeClr>
                </a:solidFill>
              </a:rPr>
              <a:t>Transmisión telefónica a larga distancia. </a:t>
            </a:r>
          </a:p>
          <a:p>
            <a:pPr marL="742950" lvl="1" indent="-285750" algn="just">
              <a:lnSpc>
                <a:spcPts val="2500"/>
              </a:lnSpc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s-ES" sz="1400" b="1" dirty="0">
                <a:solidFill>
                  <a:schemeClr val="accent5">
                    <a:lumMod val="75000"/>
                  </a:schemeClr>
                </a:solidFill>
              </a:rPr>
              <a:t>Redes privadas. </a:t>
            </a:r>
            <a:endParaRPr lang="es-MX" sz="1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E439B1C-54CE-4EFA-83E3-9873C3944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2" y="2852936"/>
            <a:ext cx="3852428" cy="240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2847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Una pantalla de una computadora&#10;&#10;Descripción generada automáticamente con confianza media">
            <a:extLst>
              <a:ext uri="{FF2B5EF4-FFF2-40B4-BE49-F238E27FC236}">
                <a16:creationId xmlns:a16="http://schemas.microsoft.com/office/drawing/2014/main" id="{069253FC-52A6-4B7E-B893-87B9E83FEF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3502355"/>
            <a:ext cx="4104456" cy="2815657"/>
          </a:xfrm>
          <a:prstGeom prst="rect">
            <a:avLst/>
          </a:prstGeom>
        </p:spPr>
      </p:pic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802481" y="2102659"/>
            <a:ext cx="4486808" cy="142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WiFi</a:t>
            </a: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Estándar IEEE 802.11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Bluetooth: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Estándar IEEE 802.15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Wi</a:t>
            </a:r>
            <a:r>
              <a:rPr lang="es-ES" sz="2000" b="1" dirty="0">
                <a:latin typeface="Arial" panose="020B0604020202020204" pitchFamily="34" charset="0"/>
                <a:cs typeface="Arial" panose="020B0604020202020204" pitchFamily="34" charset="0"/>
              </a:rPr>
              <a:t>-Max: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Estándar IEEE 802.16</a:t>
            </a: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802481" y="555516"/>
            <a:ext cx="75390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  <a:ea typeface="+mj-ea"/>
                <a:cs typeface="+mj-cs"/>
              </a:rPr>
              <a:t>Medios inalámbricos</a:t>
            </a:r>
          </a:p>
        </p:txBody>
      </p:sp>
      <p:sp>
        <p:nvSpPr>
          <p:cNvPr id="5" name="7 CuadroTexto">
            <a:extLst>
              <a:ext uri="{FF2B5EF4-FFF2-40B4-BE49-F238E27FC236}">
                <a16:creationId xmlns:a16="http://schemas.microsoft.com/office/drawing/2014/main" id="{E7C64DDA-814C-45BB-9962-5F313C80A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3424" y="1059572"/>
            <a:ext cx="4846848" cy="506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s-MX" altLang="es-MX" sz="2000" b="1" dirty="0">
                <a:solidFill>
                  <a:schemeClr val="accent6">
                    <a:lumMod val="75000"/>
                  </a:schemeClr>
                </a:solidFill>
                <a:latin typeface="ZapfHumnst BT"/>
              </a:rPr>
              <a:t>Tipos de medios inalámbricos</a:t>
            </a:r>
            <a:endParaRPr lang="es-MX" altLang="es-MX" sz="2000" dirty="0">
              <a:solidFill>
                <a:schemeClr val="accent6">
                  <a:lumMod val="75000"/>
                </a:schemeClr>
              </a:solidFill>
              <a:latin typeface="ZapfHumnst BT"/>
            </a:endParaRPr>
          </a:p>
        </p:txBody>
      </p:sp>
    </p:spTree>
    <p:extLst>
      <p:ext uri="{BB962C8B-B14F-4D97-AF65-F5344CB8AC3E}">
        <p14:creationId xmlns:p14="http://schemas.microsoft.com/office/powerpoint/2010/main" val="2603705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4071</TotalTime>
  <Words>1605</Words>
  <Application>Microsoft Office PowerPoint</Application>
  <PresentationFormat>Presentación en pantalla (4:3)</PresentationFormat>
  <Paragraphs>194</Paragraphs>
  <Slides>28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9" baseType="lpstr">
      <vt:lpstr>Arial</vt:lpstr>
      <vt:lpstr>AsapRegular</vt:lpstr>
      <vt:lpstr>Calibri</vt:lpstr>
      <vt:lpstr>Century Gothic</vt:lpstr>
      <vt:lpstr>Courier New</vt:lpstr>
      <vt:lpstr>Dom Casual</vt:lpstr>
      <vt:lpstr>inherit</vt:lpstr>
      <vt:lpstr>Monotype Sorts</vt:lpstr>
      <vt:lpstr>Wingdings</vt:lpstr>
      <vt:lpstr>ZapfHumnst BT</vt:lpstr>
      <vt:lpstr>Tema de Office</vt:lpstr>
      <vt:lpstr>TC 2006B  Interconexión de dispositivos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176</cp:revision>
  <cp:lastPrinted>2020-02-27T15:33:41Z</cp:lastPrinted>
  <dcterms:created xsi:type="dcterms:W3CDTF">2013-06-11T22:32:36Z</dcterms:created>
  <dcterms:modified xsi:type="dcterms:W3CDTF">2026-02-10T21:48:14Z</dcterms:modified>
</cp:coreProperties>
</file>