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media/image2.jpg" ContentType="image/jpeg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media/image4.jpg" ContentType="image/jpeg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354" r:id="rId2"/>
    <p:sldId id="259" r:id="rId3"/>
    <p:sldId id="261" r:id="rId4"/>
    <p:sldId id="358" r:id="rId5"/>
    <p:sldId id="340" r:id="rId6"/>
    <p:sldId id="342" r:id="rId7"/>
    <p:sldId id="357" r:id="rId8"/>
    <p:sldId id="326" r:id="rId9"/>
    <p:sldId id="365" r:id="rId10"/>
    <p:sldId id="356" r:id="rId11"/>
    <p:sldId id="364" r:id="rId12"/>
    <p:sldId id="347" r:id="rId13"/>
    <p:sldId id="353" r:id="rId14"/>
    <p:sldId id="355" r:id="rId15"/>
    <p:sldId id="351" r:id="rId16"/>
    <p:sldId id="362" r:id="rId17"/>
  </p:sldIdLst>
  <p:sldSz cx="12192000" cy="6858000"/>
  <p:notesSz cx="9296400" cy="70104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BFB79"/>
    <a:srgbClr val="A647D1"/>
    <a:srgbClr val="83E93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6C436E8-3DCB-4508-9009-E7D79E97C947}" v="69" dt="2026-03-02T18:25:14.519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3640" autoAdjust="0"/>
  </p:normalViewPr>
  <p:slideViewPr>
    <p:cSldViewPr>
      <p:cViewPr>
        <p:scale>
          <a:sx n="72" d="100"/>
          <a:sy n="72" d="100"/>
        </p:scale>
        <p:origin x="2046" y="105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334324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2 Marcador de 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993AEC0-242E-4FA7-9D3C-51E1036AC3CB}" type="slidenum">
              <a:rPr lang="es-MX" smtClean="0"/>
              <a:t>1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4854257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>
            <a:normAutofit fontScale="25000" lnSpcReduction="20000"/>
          </a:bodyPr>
          <a:lstStyle/>
          <a:p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>
            <a:normAutofit fontScale="25000" lnSpcReduction="20000"/>
          </a:bodyPr>
          <a:lstStyle/>
          <a:p>
            <a:endParaRPr lang="es-MX" noProof="1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83C81-348A-CF1E-51ED-D29C44762C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>
            <a:extLst>
              <a:ext uri="{FF2B5EF4-FFF2-40B4-BE49-F238E27FC236}">
                <a16:creationId xmlns:a16="http://schemas.microsoft.com/office/drawing/2014/main" id="{DF0C5B75-6AD7-034E-7CA5-C47DCBF0D3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25000" lnSpcReduction="20000"/>
          </a:bodyPr>
          <a:lstStyle/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7389657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>
            <a:normAutofit fontScale="25000" lnSpcReduction="20000"/>
          </a:bodyPr>
          <a:lstStyle/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1463120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>
            <a:normAutofit fontScale="25000" lnSpcReduction="20000"/>
          </a:bodyPr>
          <a:lstStyle/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3042512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>
            <a:normAutofit fontScale="25000" lnSpcReduction="20000"/>
          </a:bodyPr>
          <a:lstStyle/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3812943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6A8C55-B765-44D9-40E5-D141191443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EAB75DB9-B073-24F4-2192-A20FEEBA16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925AA8B-7DF5-D36C-9E52-AD1DD7863A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5AFB32A-EB79-48E6-84B8-5883AEE898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993AEC0-242E-4FA7-9D3C-51E1036AC3CB}" type="slidenum">
              <a:rPr lang="es-MX" smtClean="0"/>
              <a:t>9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67180509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993AEC0-242E-4FA7-9D3C-51E1036AC3CB}" type="slidenum">
              <a:rPr lang="es-MX" smtClean="0"/>
              <a:t>10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18548977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EBFED0-78D6-571D-B3C6-3EF17257EF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47E814A-2D04-4947-5FE8-BCC9C041F9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D5A95D2-69F3-5D21-C84F-EE263CD4D5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A242608-163B-6A20-3075-EF7A70D41F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993AEC0-242E-4FA7-9D3C-51E1036AC3CB}" type="slidenum">
              <a:rPr lang="es-MX" smtClean="0"/>
              <a:t>11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420393337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>
            <a:normAutofit fontScale="25000" lnSpcReduction="20000"/>
          </a:bodyPr>
          <a:lstStyle/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601308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>
            <a:normAutofit fontScale="25000" lnSpcReduction="20000"/>
          </a:bodyPr>
          <a:lstStyle/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1964528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>
            <a:normAutofit fontScale="25000" lnSpcReduction="20000"/>
          </a:bodyPr>
          <a:lstStyle/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1662967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993AEC0-242E-4FA7-9D3C-51E1036AC3CB}" type="slidenum">
              <a:rPr lang="es-MX" smtClean="0"/>
              <a:t>15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6715749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7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399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3/2/2026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8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3/2/2026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79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3/2/2026</a:t>
            </a:fld>
            <a:endParaRPr lang="en-US" dirty="0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3/2/2026</a:t>
            </a:fld>
            <a:endParaRPr lang="en-US" dirty="0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252984" y="257556"/>
            <a:ext cx="11681460" cy="630783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3/2/2026</a:t>
            </a:fld>
            <a:endParaRPr lang="en-US" dirty="0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fecha"/>
          <p:cNvSpPr>
            <a:spLocks noGrp="1"/>
          </p:cNvSpPr>
          <p:nvPr>
            <p:ph type="dt" sz="half" idx="10"/>
          </p:nvPr>
        </p:nvSpPr>
        <p:spPr>
          <a:xfrm>
            <a:off x="609600" y="6377940"/>
            <a:ext cx="2804160" cy="276999"/>
          </a:xfrm>
        </p:spPr>
        <p:txBody>
          <a:bodyPr/>
          <a:lstStyle/>
          <a:p>
            <a:fld id="{5E75A0DC-66C6-4CEC-A5EB-F8C97CEC3796}" type="datetimeFigureOut">
              <a:rPr lang="es-MX" smtClean="0"/>
              <a:t>02/03/2026</a:t>
            </a:fld>
            <a:endParaRPr lang="es-MX" dirty="0"/>
          </a:p>
        </p:txBody>
      </p:sp>
      <p:sp>
        <p:nvSpPr>
          <p:cNvPr id="3" name="2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4145280" y="6377940"/>
            <a:ext cx="3901439" cy="276999"/>
          </a:xfrm>
        </p:spPr>
        <p:txBody>
          <a:bodyPr/>
          <a:lstStyle/>
          <a:p>
            <a:endParaRPr lang="es-MX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>
          <a:xfrm>
            <a:off x="8778240" y="6377940"/>
            <a:ext cx="2804160" cy="276999"/>
          </a:xfrm>
        </p:spPr>
        <p:txBody>
          <a:bodyPr/>
          <a:lstStyle/>
          <a:p>
            <a:fld id="{C077EE1E-7A06-4E7F-9AFB-189FC69B7B0C}" type="slidenum">
              <a:rPr lang="es-MX" smtClean="0"/>
              <a:t>‹Nº›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5291937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553998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430887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s-MX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>
          <a:xfrm>
            <a:off x="609600" y="6377940"/>
            <a:ext cx="2804160" cy="276999"/>
          </a:xfrm>
        </p:spPr>
        <p:txBody>
          <a:bodyPr/>
          <a:lstStyle/>
          <a:p>
            <a:fld id="{5E75A0DC-66C6-4CEC-A5EB-F8C97CEC3796}" type="datetimeFigureOut">
              <a:rPr lang="es-MX" smtClean="0"/>
              <a:t>02/03/2026</a:t>
            </a:fld>
            <a:endParaRPr lang="es-MX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4145280" y="6377940"/>
            <a:ext cx="3901439" cy="276999"/>
          </a:xfrm>
        </p:spPr>
        <p:txBody>
          <a:bodyPr/>
          <a:lstStyle/>
          <a:p>
            <a:endParaRPr lang="es-MX" dirty="0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>
          <a:xfrm>
            <a:off x="8778240" y="6377940"/>
            <a:ext cx="2804160" cy="276999"/>
          </a:xfrm>
        </p:spPr>
        <p:txBody>
          <a:bodyPr/>
          <a:lstStyle/>
          <a:p>
            <a:fld id="{C077EE1E-7A06-4E7F-9AFB-189FC69B7B0C}" type="slidenum">
              <a:rPr lang="es-MX" smtClean="0"/>
              <a:t>‹Nº›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3722247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504438" y="827024"/>
            <a:ext cx="5183123" cy="4826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6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287272" y="2393823"/>
            <a:ext cx="9617455" cy="21488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39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3/2/2026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62000" y="533400"/>
            <a:ext cx="7342584" cy="1470025"/>
          </a:xfrm>
        </p:spPr>
        <p:txBody>
          <a:bodyPr rtlCol="0">
            <a:normAutofit/>
          </a:bodyPr>
          <a:lstStyle/>
          <a:p>
            <a:pPr algn="l">
              <a:defRPr/>
            </a:pPr>
            <a:r>
              <a:rPr lang="es-MX" sz="3200" b="0" dirty="0">
                <a:solidFill>
                  <a:schemeClr val="bg2">
                    <a:lumMod val="50000"/>
                  </a:schemeClr>
                </a:solidFill>
              </a:rPr>
              <a:t>TC 2006B </a:t>
            </a:r>
            <a:br>
              <a:rPr lang="es-MX" sz="3200" b="0" dirty="0">
                <a:solidFill>
                  <a:schemeClr val="bg2">
                    <a:lumMod val="50000"/>
                  </a:schemeClr>
                </a:solidFill>
              </a:rPr>
            </a:br>
            <a:r>
              <a:rPr lang="es-MX" sz="3200" b="0" dirty="0">
                <a:solidFill>
                  <a:schemeClr val="bg2">
                    <a:lumMod val="50000"/>
                  </a:schemeClr>
                </a:solidFill>
              </a:rPr>
              <a:t>Interconexión de dispositivos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57400" y="2106612"/>
            <a:ext cx="7848600" cy="900137"/>
          </a:xfrm>
        </p:spPr>
        <p:txBody>
          <a:bodyPr rtlCol="0">
            <a:normAutofit fontScale="85000" lnSpcReduction="20000"/>
          </a:bodyPr>
          <a:lstStyle/>
          <a:p>
            <a:pPr>
              <a:spcAft>
                <a:spcPts val="600"/>
              </a:spcAft>
              <a:defRPr/>
            </a:pPr>
            <a:r>
              <a:rPr lang="es-MX" b="1" dirty="0">
                <a:solidFill>
                  <a:schemeClr val="accent4">
                    <a:lumMod val="50000"/>
                  </a:schemeClr>
                </a:solidFill>
              </a:rPr>
              <a:t>Actividad 14: </a:t>
            </a:r>
            <a:r>
              <a:rPr lang="es-MX" b="1" dirty="0" err="1">
                <a:solidFill>
                  <a:schemeClr val="accent4">
                    <a:lumMod val="50000"/>
                  </a:schemeClr>
                </a:solidFill>
              </a:rPr>
              <a:t>VLANs</a:t>
            </a:r>
            <a:r>
              <a:rPr lang="es-MX" b="1" dirty="0">
                <a:solidFill>
                  <a:schemeClr val="accent4">
                    <a:lumMod val="50000"/>
                  </a:schemeClr>
                </a:solidFill>
              </a:rPr>
              <a:t>, VLSM, DHCP, SSH, rutas estáticas y por default</a:t>
            </a:r>
          </a:p>
          <a:p>
            <a:pPr>
              <a:spcAft>
                <a:spcPts val="600"/>
              </a:spcAft>
              <a:defRPr/>
            </a:pPr>
            <a:r>
              <a:rPr lang="es-MX" sz="2000" dirty="0">
                <a:solidFill>
                  <a:schemeClr val="accent4">
                    <a:lumMod val="50000"/>
                  </a:schemeClr>
                </a:solidFill>
              </a:rPr>
              <a:t>Tecnológico de Monterrey, Campus Querétaro</a:t>
            </a:r>
          </a:p>
        </p:txBody>
      </p:sp>
      <p:pic>
        <p:nvPicPr>
          <p:cNvPr id="5" name="Imagen 4" descr="Logotipo&#10;&#10;Descripción generada automáticamente">
            <a:extLst>
              <a:ext uri="{FF2B5EF4-FFF2-40B4-BE49-F238E27FC236}">
                <a16:creationId xmlns:a16="http://schemas.microsoft.com/office/drawing/2014/main" id="{F4BFC986-6D54-472C-AD54-15826305BF0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4488" y="3109937"/>
            <a:ext cx="2808312" cy="3322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38555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body" idx="1"/>
          </p:nvPr>
        </p:nvSpPr>
        <p:spPr>
          <a:xfrm>
            <a:off x="1287269" y="1432011"/>
            <a:ext cx="9617455" cy="2585323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</a:pPr>
            <a:r>
              <a:rPr spc="-20" dirty="0"/>
              <a:t>Nu</a:t>
            </a:r>
            <a:r>
              <a:rPr spc="-5" dirty="0"/>
              <a:t>e</a:t>
            </a:r>
            <a:r>
              <a:rPr spc="-55" dirty="0"/>
              <a:t>s</a:t>
            </a:r>
            <a:r>
              <a:rPr spc="-10" dirty="0"/>
              <a:t>t</a:t>
            </a:r>
            <a:r>
              <a:rPr spc="-65" dirty="0"/>
              <a:t>r</a:t>
            </a:r>
            <a:r>
              <a:rPr spc="-15" dirty="0"/>
              <a:t>o</a:t>
            </a:r>
            <a:r>
              <a:rPr spc="175" dirty="0"/>
              <a:t> </a:t>
            </a:r>
            <a:r>
              <a:rPr spc="-50" dirty="0"/>
              <a:t>r</a:t>
            </a:r>
            <a:r>
              <a:rPr spc="-25" dirty="0"/>
              <a:t>e</a:t>
            </a:r>
            <a:r>
              <a:rPr spc="-35" dirty="0"/>
              <a:t>t</a:t>
            </a:r>
            <a:r>
              <a:rPr spc="-15" dirty="0"/>
              <a:t>o</a:t>
            </a:r>
            <a:r>
              <a:rPr spc="170" dirty="0"/>
              <a:t> </a:t>
            </a:r>
            <a:r>
              <a:rPr spc="-15" dirty="0"/>
              <a:t>el</a:t>
            </a:r>
            <a:r>
              <a:rPr spc="165" dirty="0"/>
              <a:t> </a:t>
            </a:r>
            <a:r>
              <a:rPr spc="-20" dirty="0"/>
              <a:t>dí</a:t>
            </a:r>
            <a:r>
              <a:rPr spc="-15" dirty="0"/>
              <a:t>a</a:t>
            </a:r>
            <a:r>
              <a:rPr spc="175" dirty="0"/>
              <a:t> </a:t>
            </a:r>
            <a:r>
              <a:rPr spc="-20" dirty="0"/>
              <a:t>d</a:t>
            </a:r>
            <a:r>
              <a:rPr spc="-15" dirty="0"/>
              <a:t>e</a:t>
            </a:r>
            <a:r>
              <a:rPr spc="175" dirty="0"/>
              <a:t> </a:t>
            </a:r>
            <a:r>
              <a:rPr spc="-20" dirty="0"/>
              <a:t>h</a:t>
            </a:r>
            <a:r>
              <a:rPr spc="-30" dirty="0"/>
              <a:t>o</a:t>
            </a:r>
            <a:r>
              <a:rPr spc="-15" dirty="0"/>
              <a:t>y</a:t>
            </a:r>
            <a:r>
              <a:rPr spc="165" dirty="0"/>
              <a:t> </a:t>
            </a:r>
            <a:r>
              <a:rPr spc="-15" dirty="0"/>
              <a:t>es</a:t>
            </a:r>
            <a:r>
              <a:rPr spc="165" dirty="0"/>
              <a:t> </a:t>
            </a:r>
            <a:r>
              <a:rPr spc="-10" dirty="0"/>
              <a:t>t</a:t>
            </a:r>
            <a:r>
              <a:rPr spc="-75" dirty="0"/>
              <a:t>r</a:t>
            </a:r>
            <a:r>
              <a:rPr spc="-15" dirty="0"/>
              <a:t>abajar</a:t>
            </a:r>
            <a:r>
              <a:rPr spc="175" dirty="0"/>
              <a:t> </a:t>
            </a:r>
            <a:r>
              <a:rPr spc="-35" dirty="0"/>
              <a:t>c</a:t>
            </a:r>
            <a:r>
              <a:rPr spc="-20" dirty="0"/>
              <a:t>o</a:t>
            </a:r>
            <a:r>
              <a:rPr spc="-15" dirty="0"/>
              <a:t>n</a:t>
            </a:r>
            <a:r>
              <a:rPr spc="180" dirty="0"/>
              <a:t> </a:t>
            </a:r>
            <a:r>
              <a:rPr spc="-20" dirty="0"/>
              <a:t>u</a:t>
            </a:r>
            <a:r>
              <a:rPr spc="-15" dirty="0"/>
              <a:t>n</a:t>
            </a:r>
            <a:r>
              <a:rPr spc="175" dirty="0"/>
              <a:t> </a:t>
            </a:r>
            <a:r>
              <a:rPr spc="-20" dirty="0"/>
              <a:t>diseñ</a:t>
            </a:r>
            <a:r>
              <a:rPr spc="-15" dirty="0"/>
              <a:t>o</a:t>
            </a:r>
            <a:r>
              <a:rPr spc="185" dirty="0"/>
              <a:t> </a:t>
            </a:r>
            <a:r>
              <a:rPr spc="-15" dirty="0"/>
              <a:t>fí</a:t>
            </a:r>
            <a:r>
              <a:rPr spc="-25" dirty="0"/>
              <a:t>s</a:t>
            </a:r>
            <a:r>
              <a:rPr spc="-10" dirty="0"/>
              <a:t>i</a:t>
            </a:r>
            <a:r>
              <a:rPr spc="-40" dirty="0"/>
              <a:t>c</a:t>
            </a:r>
            <a:r>
              <a:rPr spc="-15" dirty="0"/>
              <a:t>o</a:t>
            </a:r>
            <a:r>
              <a:rPr spc="170" dirty="0"/>
              <a:t> </a:t>
            </a:r>
            <a:r>
              <a:rPr spc="-20" dirty="0"/>
              <a:t>d</a:t>
            </a:r>
            <a:r>
              <a:rPr spc="-15" dirty="0"/>
              <a:t>e</a:t>
            </a:r>
            <a:r>
              <a:rPr spc="180" dirty="0"/>
              <a:t> </a:t>
            </a:r>
            <a:r>
              <a:rPr spc="-50" dirty="0"/>
              <a:t>r</a:t>
            </a:r>
            <a:r>
              <a:rPr spc="-15" dirty="0"/>
              <a:t>ed en</a:t>
            </a:r>
            <a:r>
              <a:rPr dirty="0"/>
              <a:t> </a:t>
            </a:r>
            <a:r>
              <a:rPr spc="-35" dirty="0"/>
              <a:t> </a:t>
            </a:r>
            <a:r>
              <a:rPr b="1" spc="-65" dirty="0">
                <a:latin typeface="Calibri"/>
                <a:cs typeface="Calibri"/>
              </a:rPr>
              <a:t>P</a:t>
            </a:r>
            <a:r>
              <a:rPr b="1" spc="-15" dirty="0">
                <a:latin typeface="Calibri"/>
                <a:cs typeface="Calibri"/>
              </a:rPr>
              <a:t>a</a:t>
            </a:r>
            <a:r>
              <a:rPr b="1" spc="-10" dirty="0">
                <a:latin typeface="Calibri"/>
                <a:cs typeface="Calibri"/>
              </a:rPr>
              <a:t>c</a:t>
            </a:r>
            <a:r>
              <a:rPr b="1" spc="-75" dirty="0">
                <a:latin typeface="Calibri"/>
                <a:cs typeface="Calibri"/>
              </a:rPr>
              <a:t>k</a:t>
            </a:r>
            <a:r>
              <a:rPr b="1" spc="-45" dirty="0">
                <a:latin typeface="Calibri"/>
                <a:cs typeface="Calibri"/>
              </a:rPr>
              <a:t>e</a:t>
            </a:r>
            <a:r>
              <a:rPr b="1" spc="-10" dirty="0">
                <a:latin typeface="Calibri"/>
                <a:cs typeface="Calibri"/>
              </a:rPr>
              <a:t>t</a:t>
            </a:r>
            <a:r>
              <a:rPr b="1" dirty="0">
                <a:latin typeface="Calibri"/>
                <a:cs typeface="Calibri"/>
              </a:rPr>
              <a:t> </a:t>
            </a:r>
            <a:r>
              <a:rPr b="1" spc="-25" dirty="0">
                <a:latin typeface="Calibri"/>
                <a:cs typeface="Calibri"/>
              </a:rPr>
              <a:t> </a:t>
            </a:r>
            <a:r>
              <a:rPr b="1" spc="-165" dirty="0">
                <a:latin typeface="Calibri"/>
                <a:cs typeface="Calibri"/>
              </a:rPr>
              <a:t>T</a:t>
            </a:r>
            <a:r>
              <a:rPr b="1" spc="-60" dirty="0">
                <a:latin typeface="Calibri"/>
                <a:cs typeface="Calibri"/>
              </a:rPr>
              <a:t>r</a:t>
            </a:r>
            <a:r>
              <a:rPr b="1" spc="-15" dirty="0">
                <a:latin typeface="Calibri"/>
                <a:cs typeface="Calibri"/>
              </a:rPr>
              <a:t>ac</a:t>
            </a:r>
            <a:r>
              <a:rPr b="1" spc="-5" dirty="0">
                <a:latin typeface="Calibri"/>
                <a:cs typeface="Calibri"/>
              </a:rPr>
              <a:t>e</a:t>
            </a:r>
            <a:r>
              <a:rPr b="1" spc="-10" dirty="0">
                <a:latin typeface="Calibri"/>
                <a:cs typeface="Calibri"/>
              </a:rPr>
              <a:t>r</a:t>
            </a:r>
            <a:r>
              <a:rPr b="1" dirty="0">
                <a:latin typeface="Calibri"/>
                <a:cs typeface="Calibri"/>
              </a:rPr>
              <a:t> </a:t>
            </a:r>
            <a:r>
              <a:rPr b="1" spc="-30" dirty="0">
                <a:latin typeface="Calibri"/>
                <a:cs typeface="Calibri"/>
              </a:rPr>
              <a:t> </a:t>
            </a:r>
            <a:r>
              <a:rPr spc="-15" dirty="0"/>
              <a:t>y</a:t>
            </a:r>
            <a:r>
              <a:rPr dirty="0"/>
              <a:t> </a:t>
            </a:r>
            <a:r>
              <a:rPr spc="-25" dirty="0"/>
              <a:t> </a:t>
            </a:r>
            <a:r>
              <a:rPr spc="-50" dirty="0"/>
              <a:t>r</a:t>
            </a:r>
            <a:r>
              <a:rPr spc="-15" dirty="0"/>
              <a:t>eal</a:t>
            </a:r>
            <a:r>
              <a:rPr spc="-25" dirty="0"/>
              <a:t>i</a:t>
            </a:r>
            <a:r>
              <a:rPr spc="-65" dirty="0"/>
              <a:t>z</a:t>
            </a:r>
            <a:r>
              <a:rPr spc="-15" dirty="0"/>
              <a:t>ar</a:t>
            </a:r>
            <a:r>
              <a:rPr dirty="0"/>
              <a:t> </a:t>
            </a:r>
            <a:r>
              <a:rPr spc="-25" dirty="0"/>
              <a:t> </a:t>
            </a:r>
            <a:r>
              <a:rPr spc="-20" dirty="0"/>
              <a:t>l</a:t>
            </a:r>
            <a:r>
              <a:rPr spc="-15" dirty="0"/>
              <a:t>a</a:t>
            </a:r>
            <a:r>
              <a:rPr dirty="0"/>
              <a:t> </a:t>
            </a:r>
            <a:r>
              <a:rPr spc="-40" dirty="0"/>
              <a:t> </a:t>
            </a:r>
            <a:r>
              <a:rPr spc="-20" dirty="0"/>
              <a:t>p</a:t>
            </a:r>
            <a:r>
              <a:rPr spc="-55" dirty="0"/>
              <a:t>r</a:t>
            </a:r>
            <a:r>
              <a:rPr spc="-20" dirty="0"/>
              <a:t>og</a:t>
            </a:r>
            <a:r>
              <a:rPr spc="-70" dirty="0"/>
              <a:t>r</a:t>
            </a:r>
            <a:r>
              <a:rPr spc="-20" dirty="0"/>
              <a:t>ama</a:t>
            </a:r>
            <a:r>
              <a:rPr spc="-5" dirty="0"/>
              <a:t>c</a:t>
            </a:r>
            <a:r>
              <a:rPr spc="-15" dirty="0"/>
              <a:t>ión</a:t>
            </a:r>
            <a:r>
              <a:rPr dirty="0"/>
              <a:t> </a:t>
            </a:r>
            <a:r>
              <a:rPr spc="-25" dirty="0"/>
              <a:t> </a:t>
            </a:r>
            <a:r>
              <a:rPr spc="-20" dirty="0"/>
              <a:t>d</a:t>
            </a:r>
            <a:r>
              <a:rPr spc="-15" dirty="0"/>
              <a:t>e</a:t>
            </a:r>
            <a:r>
              <a:rPr dirty="0"/>
              <a:t> </a:t>
            </a:r>
            <a:r>
              <a:rPr spc="-30" dirty="0"/>
              <a:t> </a:t>
            </a:r>
            <a:r>
              <a:rPr spc="-15" dirty="0"/>
              <a:t>los</a:t>
            </a:r>
            <a:r>
              <a:rPr dirty="0"/>
              <a:t> </a:t>
            </a:r>
            <a:r>
              <a:rPr spc="-30" dirty="0"/>
              <a:t> </a:t>
            </a:r>
            <a:r>
              <a:rPr spc="-15" dirty="0"/>
              <a:t>eq</a:t>
            </a:r>
            <a:r>
              <a:rPr spc="-5" dirty="0"/>
              <a:t>u</a:t>
            </a:r>
            <a:r>
              <a:rPr spc="-10" dirty="0"/>
              <a:t>i</a:t>
            </a:r>
            <a:r>
              <a:rPr spc="-30" dirty="0"/>
              <a:t>p</a:t>
            </a:r>
            <a:r>
              <a:rPr spc="-5" dirty="0"/>
              <a:t>o</a:t>
            </a:r>
            <a:r>
              <a:rPr spc="-15" dirty="0"/>
              <a:t>s</a:t>
            </a:r>
            <a:r>
              <a:rPr dirty="0"/>
              <a:t> </a:t>
            </a:r>
            <a:r>
              <a:rPr spc="-15" dirty="0"/>
              <a:t> </a:t>
            </a:r>
            <a:r>
              <a:rPr spc="-20" dirty="0"/>
              <a:t>de</a:t>
            </a:r>
            <a:r>
              <a:rPr spc="-15" dirty="0"/>
              <a:t> </a:t>
            </a:r>
            <a:r>
              <a:rPr lang="es-MX" spc="-10" dirty="0"/>
              <a:t>i</a:t>
            </a:r>
            <a:r>
              <a:rPr lang="es-MX" spc="-55" dirty="0"/>
              <a:t>n</a:t>
            </a:r>
            <a:r>
              <a:rPr lang="es-MX" spc="-35" dirty="0"/>
              <a:t>t</a:t>
            </a:r>
            <a:r>
              <a:rPr lang="es-MX" spc="-15" dirty="0"/>
              <a:t>e</a:t>
            </a:r>
            <a:r>
              <a:rPr lang="es-MX" spc="-50" dirty="0"/>
              <a:t>r</a:t>
            </a:r>
            <a:r>
              <a:rPr lang="es-MX" spc="-35" dirty="0"/>
              <a:t>c</a:t>
            </a:r>
            <a:r>
              <a:rPr lang="es-MX" spc="-20" dirty="0"/>
              <a:t>on</a:t>
            </a:r>
            <a:r>
              <a:rPr lang="es-MX" spc="-65" dirty="0"/>
              <a:t>e</a:t>
            </a:r>
            <a:r>
              <a:rPr lang="es-MX" spc="-5" dirty="0"/>
              <a:t>x</a:t>
            </a:r>
            <a:r>
              <a:rPr lang="es-MX" spc="-15" dirty="0"/>
              <a:t>ión</a:t>
            </a:r>
            <a:r>
              <a:rPr lang="es-ES" spc="-15" dirty="0"/>
              <a:t>,</a:t>
            </a:r>
            <a:r>
              <a:rPr dirty="0"/>
              <a:t> </a:t>
            </a:r>
            <a:r>
              <a:rPr spc="-135" dirty="0"/>
              <a:t> </a:t>
            </a:r>
            <a:r>
              <a:rPr spc="-20" dirty="0"/>
              <a:t>l</a:t>
            </a:r>
            <a:r>
              <a:rPr spc="-15" dirty="0"/>
              <a:t>a</a:t>
            </a:r>
            <a:r>
              <a:rPr dirty="0"/>
              <a:t> </a:t>
            </a:r>
            <a:r>
              <a:rPr spc="-125" dirty="0"/>
              <a:t> </a:t>
            </a:r>
            <a:r>
              <a:rPr dirty="0"/>
              <a:t>in</a:t>
            </a:r>
            <a:r>
              <a:rPr spc="-40" dirty="0"/>
              <a:t>s</a:t>
            </a:r>
            <a:r>
              <a:rPr spc="-45" dirty="0"/>
              <a:t>t</a:t>
            </a:r>
            <a:r>
              <a:rPr spc="5" dirty="0"/>
              <a:t>a</a:t>
            </a:r>
            <a:r>
              <a:rPr dirty="0"/>
              <a:t>lación </a:t>
            </a:r>
            <a:r>
              <a:rPr spc="-20" dirty="0"/>
              <a:t>d</a:t>
            </a:r>
            <a:r>
              <a:rPr spc="-15" dirty="0"/>
              <a:t>el</a:t>
            </a:r>
            <a:r>
              <a:rPr dirty="0"/>
              <a:t> </a:t>
            </a:r>
            <a:r>
              <a:rPr lang="es-MX" spc="-5" noProof="1"/>
              <a:t>s</a:t>
            </a:r>
            <a:r>
              <a:rPr lang="es-MX" spc="-15" noProof="1"/>
              <a:t>e</a:t>
            </a:r>
            <a:r>
              <a:rPr lang="es-MX" spc="5" noProof="1"/>
              <a:t>r</a:t>
            </a:r>
            <a:r>
              <a:rPr lang="es-MX" spc="-15" noProof="1"/>
              <a:t>v</a:t>
            </a:r>
            <a:r>
              <a:rPr lang="es-MX" spc="-20" noProof="1"/>
              <a:t>i</a:t>
            </a:r>
            <a:r>
              <a:rPr lang="es-MX" spc="-15" noProof="1"/>
              <a:t>cio</a:t>
            </a:r>
            <a:r>
              <a:rPr lang="es-ES" spc="-15" dirty="0"/>
              <a:t> de</a:t>
            </a:r>
            <a:r>
              <a:rPr dirty="0"/>
              <a:t> </a:t>
            </a:r>
            <a:r>
              <a:rPr b="1" spc="-25" dirty="0">
                <a:latin typeface="Calibri"/>
                <a:cs typeface="Calibri"/>
              </a:rPr>
              <a:t>DHC</a:t>
            </a:r>
            <a:r>
              <a:rPr b="1" spc="-15" dirty="0">
                <a:latin typeface="Calibri"/>
                <a:cs typeface="Calibri"/>
              </a:rPr>
              <a:t>P</a:t>
            </a:r>
            <a:r>
              <a:rPr lang="es-ES" spc="-15" dirty="0">
                <a:latin typeface="Calibri"/>
                <a:cs typeface="Calibri"/>
              </a:rPr>
              <a:t>, la configuración de </a:t>
            </a:r>
            <a:r>
              <a:rPr lang="es-ES" b="1" spc="-15" dirty="0">
                <a:latin typeface="Calibri"/>
                <a:cs typeface="Calibri"/>
              </a:rPr>
              <a:t>VLANs</a:t>
            </a:r>
            <a:r>
              <a:rPr lang="es-ES" spc="-15" dirty="0">
                <a:latin typeface="Calibri"/>
                <a:cs typeface="Calibri"/>
              </a:rPr>
              <a:t>,</a:t>
            </a:r>
            <a:r>
              <a:rPr lang="es-ES" b="1" spc="-15" dirty="0">
                <a:latin typeface="Calibri"/>
                <a:cs typeface="Calibri"/>
              </a:rPr>
              <a:t> rutas estáticas</a:t>
            </a:r>
            <a:r>
              <a:rPr b="1" spc="-10" dirty="0">
                <a:latin typeface="Calibri"/>
                <a:cs typeface="Calibri"/>
              </a:rPr>
              <a:t> </a:t>
            </a:r>
            <a:r>
              <a:rPr lang="es-ES" spc="-10" dirty="0">
                <a:latin typeface="Calibri"/>
                <a:cs typeface="Calibri"/>
              </a:rPr>
              <a:t>y una </a:t>
            </a:r>
            <a:r>
              <a:rPr lang="es-ES" b="1" spc="-10" dirty="0">
                <a:latin typeface="Calibri"/>
                <a:cs typeface="Calibri"/>
              </a:rPr>
              <a:t>ruta por default </a:t>
            </a:r>
            <a:r>
              <a:rPr spc="-20" dirty="0"/>
              <a:t>pa</a:t>
            </a:r>
            <a:r>
              <a:rPr spc="-75" dirty="0"/>
              <a:t>r</a:t>
            </a:r>
            <a:r>
              <a:rPr spc="-15" dirty="0"/>
              <a:t>a</a:t>
            </a:r>
            <a:r>
              <a:rPr spc="130" dirty="0"/>
              <a:t> </a:t>
            </a:r>
            <a:r>
              <a:rPr spc="-15" dirty="0"/>
              <a:t>log</a:t>
            </a:r>
            <a:r>
              <a:rPr spc="-80" dirty="0"/>
              <a:t>r</a:t>
            </a:r>
            <a:r>
              <a:rPr spc="-15" dirty="0"/>
              <a:t>ar</a:t>
            </a:r>
            <a:r>
              <a:rPr spc="110" dirty="0"/>
              <a:t> </a:t>
            </a:r>
            <a:r>
              <a:rPr spc="-20" dirty="0"/>
              <a:t>l</a:t>
            </a:r>
            <a:r>
              <a:rPr spc="-15" dirty="0"/>
              <a:t>a</a:t>
            </a:r>
            <a:r>
              <a:rPr spc="125" dirty="0"/>
              <a:t> </a:t>
            </a:r>
            <a:r>
              <a:rPr spc="-35" dirty="0" err="1"/>
              <a:t>c</a:t>
            </a:r>
            <a:r>
              <a:rPr spc="-20" dirty="0" err="1"/>
              <a:t>onectivid</a:t>
            </a:r>
            <a:r>
              <a:rPr spc="-5" dirty="0" err="1"/>
              <a:t>a</a:t>
            </a:r>
            <a:r>
              <a:rPr spc="-15" dirty="0" err="1"/>
              <a:t>d</a:t>
            </a:r>
            <a:r>
              <a:rPr spc="120" dirty="0"/>
              <a:t> </a:t>
            </a:r>
            <a:r>
              <a:rPr spc="-20" dirty="0"/>
              <a:t>d</a:t>
            </a:r>
            <a:r>
              <a:rPr spc="-15" dirty="0"/>
              <a:t>e</a:t>
            </a:r>
            <a:r>
              <a:rPr lang="es-ES" spc="-15" dirty="0"/>
              <a:t>l</a:t>
            </a:r>
            <a:r>
              <a:rPr spc="114" dirty="0"/>
              <a:t> </a:t>
            </a:r>
            <a:r>
              <a:rPr spc="-15" dirty="0" err="1"/>
              <a:t>e</a:t>
            </a:r>
            <a:r>
              <a:rPr spc="-10" dirty="0" err="1"/>
              <a:t>s</a:t>
            </a:r>
            <a:r>
              <a:rPr spc="-20" dirty="0" err="1"/>
              <a:t>paci</a:t>
            </a:r>
            <a:r>
              <a:rPr spc="-15" dirty="0" err="1"/>
              <a:t>o</a:t>
            </a:r>
            <a:r>
              <a:rPr lang="es-ES" spc="-15" dirty="0"/>
              <a:t> de trabajo de la compañía </a:t>
            </a:r>
            <a:r>
              <a:rPr lang="es-ES" b="1" spc="-15" dirty="0"/>
              <a:t>“Pisos y más”</a:t>
            </a:r>
            <a:r>
              <a:rPr b="1" spc="120" dirty="0"/>
              <a:t> </a:t>
            </a:r>
            <a:r>
              <a:rPr spc="-35" dirty="0"/>
              <a:t>c</a:t>
            </a:r>
            <a:r>
              <a:rPr spc="-20" dirty="0"/>
              <a:t>o</a:t>
            </a:r>
            <a:r>
              <a:rPr spc="-15" dirty="0"/>
              <a:t>n</a:t>
            </a:r>
            <a:r>
              <a:rPr spc="120" dirty="0"/>
              <a:t> </a:t>
            </a:r>
            <a:r>
              <a:rPr spc="-20" dirty="0"/>
              <a:t>l</a:t>
            </a:r>
            <a:r>
              <a:rPr spc="-15" dirty="0"/>
              <a:t>a</a:t>
            </a:r>
            <a:r>
              <a:rPr spc="125" dirty="0"/>
              <a:t> </a:t>
            </a:r>
            <a:r>
              <a:rPr spc="-50" dirty="0"/>
              <a:t>r</a:t>
            </a:r>
            <a:r>
              <a:rPr spc="-15" dirty="0"/>
              <a:t>ed</a:t>
            </a:r>
            <a:r>
              <a:rPr spc="-10" dirty="0"/>
              <a:t> I</a:t>
            </a:r>
            <a:r>
              <a:rPr spc="-45" dirty="0"/>
              <a:t>n</a:t>
            </a:r>
            <a:r>
              <a:rPr spc="-35" dirty="0"/>
              <a:t>t</a:t>
            </a:r>
            <a:r>
              <a:rPr spc="-15" dirty="0"/>
              <a:t>ern</a:t>
            </a:r>
            <a:r>
              <a:rPr spc="-40" dirty="0"/>
              <a:t>e</a:t>
            </a:r>
            <a:r>
              <a:rPr spc="-10" dirty="0"/>
              <a:t>t</a:t>
            </a:r>
            <a:r>
              <a:rPr dirty="0"/>
              <a:t>.</a:t>
            </a:r>
            <a:endParaRPr dirty="0">
              <a:latin typeface="Calibri"/>
              <a:cs typeface="Calibri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3504436" y="457200"/>
            <a:ext cx="5183123" cy="55399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algn="ctr">
              <a:lnSpc>
                <a:spcPct val="100000"/>
              </a:lnSpc>
            </a:pPr>
            <a:r>
              <a:rPr spc="-25" dirty="0">
                <a:solidFill>
                  <a:schemeClr val="accent4">
                    <a:lumMod val="50000"/>
                  </a:schemeClr>
                </a:solidFill>
              </a:rPr>
              <a:t>Cas</a:t>
            </a:r>
            <a:r>
              <a:rPr spc="-20" dirty="0">
                <a:solidFill>
                  <a:schemeClr val="accent4">
                    <a:lumMod val="50000"/>
                  </a:schemeClr>
                </a:solidFill>
              </a:rPr>
              <a:t>o</a:t>
            </a:r>
            <a:r>
              <a:rPr spc="5" dirty="0">
                <a:solidFill>
                  <a:schemeClr val="accent4">
                    <a:lumMod val="50000"/>
                  </a:schemeClr>
                </a:solidFill>
              </a:rPr>
              <a:t> </a:t>
            </a:r>
            <a:r>
              <a:rPr lang="es-ES" spc="5" dirty="0">
                <a:solidFill>
                  <a:schemeClr val="accent4">
                    <a:lumMod val="50000"/>
                  </a:schemeClr>
                </a:solidFill>
              </a:rPr>
              <a:t>“Pisos y más”</a:t>
            </a:r>
            <a:endParaRPr spc="-20" dirty="0">
              <a:solidFill>
                <a:schemeClr val="accent4">
                  <a:lumMod val="50000"/>
                </a:schemeClr>
              </a:solidFill>
            </a:endParaRPr>
          </a:p>
        </p:txBody>
      </p:sp>
      <p:pic>
        <p:nvPicPr>
          <p:cNvPr id="5" name="Imagen 4" descr="Una captura de pantalla de un celular con la imagen de un videojuego&#10;&#10;Descripción generada automáticamente con confianza baja">
            <a:extLst>
              <a:ext uri="{FF2B5EF4-FFF2-40B4-BE49-F238E27FC236}">
                <a16:creationId xmlns:a16="http://schemas.microsoft.com/office/drawing/2014/main" id="{0DF0B658-8BDF-4311-A02B-61331522721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55124" y="3886200"/>
            <a:ext cx="3149600" cy="23622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742950" y="1277144"/>
            <a:ext cx="11053119" cy="389568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3000"/>
              </a:lnSpc>
              <a:spcAft>
                <a:spcPts val="600"/>
              </a:spcAft>
            </a:pPr>
            <a:r>
              <a:rPr sz="2000" spc="-5" dirty="0">
                <a:latin typeface="Calibri"/>
                <a:cs typeface="Calibri"/>
              </a:rPr>
              <a:t>Debemo</a:t>
            </a:r>
            <a:r>
              <a:rPr sz="2000" dirty="0">
                <a:latin typeface="Calibri"/>
                <a:cs typeface="Calibri"/>
              </a:rPr>
              <a:t>s</a:t>
            </a:r>
            <a:r>
              <a:rPr sz="2000" spc="20" dirty="0">
                <a:latin typeface="Calibri"/>
                <a:cs typeface="Calibri"/>
              </a:rPr>
              <a:t> </a:t>
            </a:r>
            <a:r>
              <a:rPr sz="2000" spc="-45" dirty="0">
                <a:latin typeface="Calibri"/>
                <a:cs typeface="Calibri"/>
              </a:rPr>
              <a:t>r</a:t>
            </a:r>
            <a:r>
              <a:rPr sz="2000" dirty="0">
                <a:latin typeface="Calibri"/>
                <a:cs typeface="Calibri"/>
              </a:rPr>
              <a:t>eali</a:t>
            </a:r>
            <a:r>
              <a:rPr sz="2000" spc="-35" dirty="0">
                <a:latin typeface="Calibri"/>
                <a:cs typeface="Calibri"/>
              </a:rPr>
              <a:t>z</a:t>
            </a:r>
            <a:r>
              <a:rPr sz="2000" dirty="0">
                <a:latin typeface="Calibri"/>
                <a:cs typeface="Calibri"/>
              </a:rPr>
              <a:t>ar</a:t>
            </a:r>
            <a:r>
              <a:rPr sz="2000" spc="2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el</a:t>
            </a:r>
            <a:r>
              <a:rPr sz="2000" spc="20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dis</a:t>
            </a:r>
            <a:r>
              <a:rPr sz="2000" spc="-15" dirty="0">
                <a:latin typeface="Calibri"/>
                <a:cs typeface="Calibri"/>
              </a:rPr>
              <a:t>e</a:t>
            </a:r>
            <a:r>
              <a:rPr sz="2000" spc="-5" dirty="0">
                <a:latin typeface="Calibri"/>
                <a:cs typeface="Calibri"/>
              </a:rPr>
              <a:t>ñ</a:t>
            </a:r>
            <a:r>
              <a:rPr sz="2000" dirty="0">
                <a:latin typeface="Calibri"/>
                <a:cs typeface="Calibri"/>
              </a:rPr>
              <a:t>o</a:t>
            </a:r>
            <a:r>
              <a:rPr sz="2000" spc="10" dirty="0">
                <a:latin typeface="Calibri"/>
                <a:cs typeface="Calibri"/>
              </a:rPr>
              <a:t> </a:t>
            </a:r>
            <a:r>
              <a:rPr sz="2000" spc="-20" dirty="0">
                <a:latin typeface="Calibri"/>
                <a:cs typeface="Calibri"/>
              </a:rPr>
              <a:t>c</a:t>
            </a:r>
            <a:r>
              <a:rPr sz="2000" spc="-5" dirty="0">
                <a:latin typeface="Calibri"/>
                <a:cs typeface="Calibri"/>
              </a:rPr>
              <a:t>o</a:t>
            </a:r>
            <a:r>
              <a:rPr sz="2000" dirty="0">
                <a:latin typeface="Calibri"/>
                <a:cs typeface="Calibri"/>
              </a:rPr>
              <a:t>n</a:t>
            </a:r>
            <a:r>
              <a:rPr sz="2000" spc="10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bas</a:t>
            </a:r>
            <a:r>
              <a:rPr sz="2000" dirty="0">
                <a:latin typeface="Calibri"/>
                <a:cs typeface="Calibri"/>
              </a:rPr>
              <a:t>e</a:t>
            </a:r>
            <a:r>
              <a:rPr sz="2000" spc="3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en</a:t>
            </a:r>
            <a:r>
              <a:rPr sz="2000" spc="15" dirty="0">
                <a:latin typeface="Calibri"/>
                <a:cs typeface="Calibri"/>
              </a:rPr>
              <a:t> </a:t>
            </a:r>
            <a:r>
              <a:rPr sz="2000" spc="-45" dirty="0">
                <a:latin typeface="Calibri"/>
                <a:cs typeface="Calibri"/>
              </a:rPr>
              <a:t>r</a:t>
            </a:r>
            <a:r>
              <a:rPr sz="2000" dirty="0">
                <a:latin typeface="Calibri"/>
                <a:cs typeface="Calibri"/>
              </a:rPr>
              <a:t>e</a:t>
            </a:r>
            <a:r>
              <a:rPr sz="2000" spc="-25" dirty="0">
                <a:latin typeface="Calibri"/>
                <a:cs typeface="Calibri"/>
              </a:rPr>
              <a:t>s</a:t>
            </a:r>
            <a:r>
              <a:rPr sz="2000" dirty="0">
                <a:latin typeface="Calibri"/>
                <a:cs typeface="Calibri"/>
              </a:rPr>
              <a:t>tri</a:t>
            </a:r>
            <a:r>
              <a:rPr sz="2000" spc="-5" dirty="0">
                <a:latin typeface="Calibri"/>
                <a:cs typeface="Calibri"/>
              </a:rPr>
              <a:t>c</a:t>
            </a:r>
            <a:r>
              <a:rPr sz="2000" dirty="0">
                <a:latin typeface="Calibri"/>
                <a:cs typeface="Calibri"/>
              </a:rPr>
              <a:t>c</a:t>
            </a:r>
            <a:r>
              <a:rPr sz="2000" spc="-10" dirty="0">
                <a:latin typeface="Calibri"/>
                <a:cs typeface="Calibri"/>
              </a:rPr>
              <a:t>i</a:t>
            </a:r>
            <a:r>
              <a:rPr sz="2000" spc="-5" dirty="0">
                <a:latin typeface="Calibri"/>
                <a:cs typeface="Calibri"/>
              </a:rPr>
              <a:t>o</a:t>
            </a:r>
            <a:r>
              <a:rPr sz="2000" spc="-10" dirty="0">
                <a:latin typeface="Calibri"/>
                <a:cs typeface="Calibri"/>
              </a:rPr>
              <a:t>n</a:t>
            </a:r>
            <a:r>
              <a:rPr sz="2000" dirty="0">
                <a:latin typeface="Calibri"/>
                <a:cs typeface="Calibri"/>
              </a:rPr>
              <a:t>es</a:t>
            </a:r>
            <a:r>
              <a:rPr sz="2000" spc="20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qu</a:t>
            </a:r>
            <a:r>
              <a:rPr sz="2000" dirty="0">
                <a:latin typeface="Calibri"/>
                <a:cs typeface="Calibri"/>
              </a:rPr>
              <a:t>e</a:t>
            </a:r>
            <a:r>
              <a:rPr sz="2000" spc="25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h</a:t>
            </a:r>
            <a:r>
              <a:rPr sz="2000" spc="5" dirty="0">
                <a:latin typeface="Calibri"/>
                <a:cs typeface="Calibri"/>
              </a:rPr>
              <a:t>a</a:t>
            </a:r>
            <a:r>
              <a:rPr sz="2000" dirty="0">
                <a:latin typeface="Calibri"/>
                <a:cs typeface="Calibri"/>
              </a:rPr>
              <a:t>n</a:t>
            </a:r>
            <a:r>
              <a:rPr sz="2000" spc="20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sid</a:t>
            </a:r>
            <a:r>
              <a:rPr sz="2000" dirty="0">
                <a:latin typeface="Calibri"/>
                <a:cs typeface="Calibri"/>
              </a:rPr>
              <a:t>o</a:t>
            </a:r>
            <a:r>
              <a:rPr sz="2000" spc="10" dirty="0">
                <a:latin typeface="Calibri"/>
                <a:cs typeface="Calibri"/>
              </a:rPr>
              <a:t> </a:t>
            </a:r>
            <a:r>
              <a:rPr sz="2000" dirty="0" err="1">
                <a:latin typeface="Calibri"/>
                <a:cs typeface="Calibri"/>
              </a:rPr>
              <a:t>e</a:t>
            </a:r>
            <a:r>
              <a:rPr sz="2000" spc="-25" dirty="0" err="1">
                <a:latin typeface="Calibri"/>
                <a:cs typeface="Calibri"/>
              </a:rPr>
              <a:t>st</a:t>
            </a:r>
            <a:r>
              <a:rPr sz="2000" dirty="0" err="1">
                <a:latin typeface="Calibri"/>
                <a:cs typeface="Calibri"/>
              </a:rPr>
              <a:t>ablecidas</a:t>
            </a:r>
            <a:r>
              <a:rPr sz="2000" spc="25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p</a:t>
            </a:r>
            <a:r>
              <a:rPr sz="2000" spc="-10" dirty="0">
                <a:latin typeface="Calibri"/>
                <a:cs typeface="Calibri"/>
              </a:rPr>
              <a:t>or</a:t>
            </a:r>
            <a:r>
              <a:rPr lang="es-ES" sz="2000" spc="-10" dirty="0">
                <a:latin typeface="Calibri"/>
                <a:cs typeface="Calibri"/>
              </a:rPr>
              <a:t> </a:t>
            </a:r>
            <a:r>
              <a:rPr sz="2000" spc="5" dirty="0">
                <a:latin typeface="Calibri"/>
                <a:cs typeface="Calibri"/>
              </a:rPr>
              <a:t>e</a:t>
            </a:r>
            <a:r>
              <a:rPr sz="2000" dirty="0">
                <a:latin typeface="Calibri"/>
                <a:cs typeface="Calibri"/>
              </a:rPr>
              <a:t>l</a:t>
            </a:r>
            <a:r>
              <a:rPr sz="2000" spc="-5" dirty="0">
                <a:latin typeface="Calibri"/>
                <a:cs typeface="Calibri"/>
              </a:rPr>
              <a:t> </a:t>
            </a:r>
            <a:r>
              <a:rPr lang="es-MX" sz="2000" dirty="0">
                <a:latin typeface="Calibri"/>
                <a:cs typeface="Calibri"/>
              </a:rPr>
              <a:t>cli</a:t>
            </a:r>
            <a:r>
              <a:rPr lang="es-MX" sz="2000" spc="10" dirty="0">
                <a:latin typeface="Calibri"/>
                <a:cs typeface="Calibri"/>
              </a:rPr>
              <a:t>e</a:t>
            </a:r>
            <a:r>
              <a:rPr lang="es-MX" sz="2000" spc="-25" dirty="0">
                <a:latin typeface="Calibri"/>
                <a:cs typeface="Calibri"/>
              </a:rPr>
              <a:t>n</a:t>
            </a:r>
            <a:r>
              <a:rPr lang="es-MX" sz="2000" spc="-35" dirty="0">
                <a:latin typeface="Calibri"/>
                <a:cs typeface="Calibri"/>
              </a:rPr>
              <a:t>t</a:t>
            </a:r>
            <a:r>
              <a:rPr lang="es-MX" sz="2000" spc="-5" dirty="0">
                <a:latin typeface="Calibri"/>
                <a:cs typeface="Calibri"/>
              </a:rPr>
              <a:t>e</a:t>
            </a:r>
            <a:r>
              <a:rPr lang="es-ES" sz="2000" spc="-5" dirty="0">
                <a:latin typeface="Calibri"/>
                <a:cs typeface="Calibri"/>
              </a:rPr>
              <a:t>:</a:t>
            </a:r>
            <a:endParaRPr sz="2000" dirty="0">
              <a:latin typeface="Calibri"/>
              <a:cs typeface="Calibri"/>
            </a:endParaRPr>
          </a:p>
          <a:p>
            <a:pPr marL="469900" indent="-457200">
              <a:lnSpc>
                <a:spcPts val="3000"/>
              </a:lnSpc>
              <a:buFont typeface="+mj-lt"/>
              <a:buAutoNum type="arabicPeriod"/>
              <a:tabLst>
                <a:tab pos="311150" algn="l"/>
                <a:tab pos="2332038" algn="l"/>
              </a:tabLst>
            </a:pPr>
            <a:r>
              <a:rPr lang="es-MX" sz="2000" spc="-20" dirty="0">
                <a:latin typeface="Calibri"/>
                <a:cs typeface="Calibri"/>
              </a:rPr>
              <a:t>Configura la interface </a:t>
            </a:r>
            <a:r>
              <a:rPr lang="es-MX" sz="2000" b="1" spc="-20" dirty="0">
                <a:latin typeface="Calibri"/>
                <a:cs typeface="Calibri"/>
              </a:rPr>
              <a:t>s0/0/1</a:t>
            </a:r>
            <a:r>
              <a:rPr lang="es-MX" sz="2000" spc="-20" dirty="0">
                <a:latin typeface="Calibri"/>
                <a:cs typeface="Calibri"/>
              </a:rPr>
              <a:t>.</a:t>
            </a:r>
            <a:endParaRPr lang="es-ES" sz="2000" dirty="0">
              <a:latin typeface="Calibri"/>
              <a:cs typeface="Calibri"/>
            </a:endParaRPr>
          </a:p>
          <a:p>
            <a:pPr marL="469900" indent="-457200">
              <a:lnSpc>
                <a:spcPts val="3000"/>
              </a:lnSpc>
              <a:buFont typeface="+mj-lt"/>
              <a:buAutoNum type="arabicPeriod"/>
              <a:tabLst>
                <a:tab pos="311785" algn="l"/>
              </a:tabLst>
            </a:pPr>
            <a:r>
              <a:rPr lang="es-MX" sz="2000" spc="-20" noProof="1">
                <a:latin typeface="Calibri"/>
                <a:cs typeface="Calibri"/>
              </a:rPr>
              <a:t>Deb</a:t>
            </a:r>
            <a:r>
              <a:rPr lang="es-MX" sz="2000" spc="-10" noProof="1">
                <a:latin typeface="Calibri"/>
                <a:cs typeface="Calibri"/>
              </a:rPr>
              <a:t>e</a:t>
            </a:r>
            <a:r>
              <a:rPr lang="es-MX" sz="2000" noProof="1">
                <a:latin typeface="Calibri"/>
                <a:cs typeface="Calibri"/>
              </a:rPr>
              <a:t>mos</a:t>
            </a:r>
            <a:r>
              <a:rPr sz="2000" spc="-20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utili</a:t>
            </a:r>
            <a:r>
              <a:rPr sz="2000" spc="-30" dirty="0">
                <a:latin typeface="Calibri"/>
                <a:cs typeface="Calibri"/>
              </a:rPr>
              <a:t>z</a:t>
            </a:r>
            <a:r>
              <a:rPr sz="2000" spc="-10" dirty="0">
                <a:latin typeface="Calibri"/>
                <a:cs typeface="Calibri"/>
              </a:rPr>
              <a:t>ar t</a:t>
            </a:r>
            <a:r>
              <a:rPr sz="2000" spc="-45" dirty="0">
                <a:latin typeface="Calibri"/>
                <a:cs typeface="Calibri"/>
              </a:rPr>
              <a:t>r</a:t>
            </a:r>
            <a:r>
              <a:rPr sz="2000" spc="-15" dirty="0">
                <a:latin typeface="Calibri"/>
                <a:cs typeface="Calibri"/>
              </a:rPr>
              <a:t>es</a:t>
            </a:r>
            <a:r>
              <a:rPr sz="2000" spc="-5" dirty="0">
                <a:latin typeface="Calibri"/>
                <a:cs typeface="Calibri"/>
              </a:rPr>
              <a:t> </a:t>
            </a:r>
            <a:r>
              <a:rPr sz="2000" b="1" spc="-20" dirty="0">
                <a:latin typeface="Calibri"/>
                <a:cs typeface="Calibri"/>
              </a:rPr>
              <a:t>VLAN</a:t>
            </a:r>
            <a:r>
              <a:rPr sz="2000" b="1" spc="-15" dirty="0">
                <a:latin typeface="Calibri"/>
                <a:cs typeface="Calibri"/>
              </a:rPr>
              <a:t>S</a:t>
            </a:r>
            <a:r>
              <a:rPr sz="2000" b="1" spc="-5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(M</a:t>
            </a:r>
            <a:r>
              <a:rPr sz="2000" spc="5" dirty="0">
                <a:latin typeface="Calibri"/>
                <a:cs typeface="Calibri"/>
              </a:rPr>
              <a:t>a</a:t>
            </a:r>
            <a:r>
              <a:rPr sz="2000" spc="-5" dirty="0">
                <a:latin typeface="Calibri"/>
                <a:cs typeface="Calibri"/>
              </a:rPr>
              <a:t>na</a:t>
            </a:r>
            <a:r>
              <a:rPr sz="2000" spc="-25" dirty="0">
                <a:latin typeface="Calibri"/>
                <a:cs typeface="Calibri"/>
              </a:rPr>
              <a:t>g</a:t>
            </a:r>
            <a:r>
              <a:rPr sz="2000" spc="-15" dirty="0">
                <a:latin typeface="Calibri"/>
                <a:cs typeface="Calibri"/>
              </a:rPr>
              <a:t>e</a:t>
            </a:r>
            <a:r>
              <a:rPr sz="2000" spc="-210" dirty="0">
                <a:latin typeface="Calibri"/>
                <a:cs typeface="Calibri"/>
              </a:rPr>
              <a:t>r</a:t>
            </a:r>
            <a:r>
              <a:rPr sz="2000" spc="-10" dirty="0">
                <a:latin typeface="Calibri"/>
                <a:cs typeface="Calibri"/>
              </a:rPr>
              <a:t>,</a:t>
            </a:r>
            <a:r>
              <a:rPr lang="es-MX" sz="2000" spc="-10" dirty="0">
                <a:latin typeface="Calibri"/>
                <a:cs typeface="Calibri"/>
              </a:rPr>
              <a:t>s</a:t>
            </a:r>
            <a:r>
              <a:rPr sz="2000" spc="-25" dirty="0">
                <a:latin typeface="Calibri"/>
                <a:cs typeface="Calibri"/>
              </a:rPr>
              <a:t> </a:t>
            </a:r>
            <a:r>
              <a:rPr sz="2000" spc="-20" dirty="0">
                <a:latin typeface="Calibri"/>
                <a:cs typeface="Calibri"/>
              </a:rPr>
              <a:t>Us</a:t>
            </a:r>
            <a:r>
              <a:rPr sz="2000" spc="-15" dirty="0">
                <a:latin typeface="Calibri"/>
                <a:cs typeface="Calibri"/>
              </a:rPr>
              <a:t>e</a:t>
            </a:r>
            <a:r>
              <a:rPr sz="2000" spc="-40" dirty="0">
                <a:latin typeface="Calibri"/>
                <a:cs typeface="Calibri"/>
              </a:rPr>
              <a:t>r</a:t>
            </a:r>
            <a:r>
              <a:rPr sz="2000" spc="-5" dirty="0">
                <a:latin typeface="Calibri"/>
                <a:cs typeface="Calibri"/>
              </a:rPr>
              <a:t>s</a:t>
            </a:r>
            <a:r>
              <a:rPr lang="es-MX" sz="2000" spc="-5" dirty="0">
                <a:latin typeface="Calibri"/>
                <a:cs typeface="Calibri"/>
              </a:rPr>
              <a:t> y</a:t>
            </a:r>
            <a:r>
              <a:rPr sz="2000" spc="-5" dirty="0">
                <a:latin typeface="Calibri"/>
                <a:cs typeface="Calibri"/>
              </a:rPr>
              <a:t> S</a:t>
            </a:r>
            <a:r>
              <a:rPr sz="2000" spc="5" dirty="0">
                <a:latin typeface="Calibri"/>
                <a:cs typeface="Calibri"/>
              </a:rPr>
              <a:t>er</a:t>
            </a:r>
            <a:r>
              <a:rPr sz="2000" spc="-10" dirty="0">
                <a:latin typeface="Calibri"/>
                <a:cs typeface="Calibri"/>
              </a:rPr>
              <a:t>vice</a:t>
            </a:r>
            <a:r>
              <a:rPr sz="2000" dirty="0">
                <a:latin typeface="Calibri"/>
                <a:cs typeface="Calibri"/>
              </a:rPr>
              <a:t>s)</a:t>
            </a:r>
          </a:p>
          <a:p>
            <a:pPr marL="469900" indent="-457200">
              <a:lnSpc>
                <a:spcPts val="3000"/>
              </a:lnSpc>
              <a:buFont typeface="+mj-lt"/>
              <a:buAutoNum type="arabicPeriod"/>
              <a:tabLst>
                <a:tab pos="311785" algn="l"/>
              </a:tabLst>
            </a:pPr>
            <a:r>
              <a:rPr lang="es-MX" sz="2000" spc="-5" dirty="0">
                <a:latin typeface="Calibri"/>
                <a:cs typeface="Calibri"/>
              </a:rPr>
              <a:t>Las tres </a:t>
            </a:r>
            <a:r>
              <a:rPr lang="es-MX" sz="2000" b="1" spc="-5" dirty="0" err="1">
                <a:latin typeface="Calibri"/>
                <a:cs typeface="Calibri"/>
              </a:rPr>
              <a:t>VLANs</a:t>
            </a:r>
            <a:r>
              <a:rPr lang="es-MX" sz="2000" spc="-5" dirty="0">
                <a:latin typeface="Calibri"/>
                <a:cs typeface="Calibri"/>
              </a:rPr>
              <a:t> (M</a:t>
            </a:r>
            <a:r>
              <a:rPr lang="es-MX" sz="2000" spc="5" dirty="0">
                <a:latin typeface="Calibri"/>
                <a:cs typeface="Calibri"/>
              </a:rPr>
              <a:t>a</a:t>
            </a:r>
            <a:r>
              <a:rPr lang="es-MX" sz="2000" spc="-5" dirty="0">
                <a:latin typeface="Calibri"/>
                <a:cs typeface="Calibri"/>
              </a:rPr>
              <a:t>na</a:t>
            </a:r>
            <a:r>
              <a:rPr lang="es-MX" sz="2000" spc="-25" dirty="0">
                <a:latin typeface="Calibri"/>
                <a:cs typeface="Calibri"/>
              </a:rPr>
              <a:t>g</a:t>
            </a:r>
            <a:r>
              <a:rPr lang="es-MX" sz="2000" spc="-15" dirty="0">
                <a:latin typeface="Calibri"/>
                <a:cs typeface="Calibri"/>
              </a:rPr>
              <a:t>e</a:t>
            </a:r>
            <a:r>
              <a:rPr lang="es-MX" sz="2000" spc="-210" dirty="0">
                <a:latin typeface="Calibri"/>
                <a:cs typeface="Calibri"/>
              </a:rPr>
              <a:t>rs</a:t>
            </a:r>
            <a:r>
              <a:rPr lang="es-MX" sz="2000" spc="-10" dirty="0">
                <a:latin typeface="Calibri"/>
                <a:cs typeface="Calibri"/>
              </a:rPr>
              <a:t>,</a:t>
            </a:r>
            <a:r>
              <a:rPr lang="es-MX" sz="2000" spc="-25" dirty="0">
                <a:latin typeface="Calibri"/>
                <a:cs typeface="Calibri"/>
              </a:rPr>
              <a:t> </a:t>
            </a:r>
            <a:r>
              <a:rPr lang="es-MX" sz="2000" spc="-20" dirty="0" err="1">
                <a:latin typeface="Calibri"/>
                <a:cs typeface="Calibri"/>
              </a:rPr>
              <a:t>Us</a:t>
            </a:r>
            <a:r>
              <a:rPr lang="es-MX" sz="2000" spc="-15" dirty="0" err="1">
                <a:latin typeface="Calibri"/>
                <a:cs typeface="Calibri"/>
              </a:rPr>
              <a:t>e</a:t>
            </a:r>
            <a:r>
              <a:rPr lang="es-MX" sz="2000" spc="-40" dirty="0" err="1">
                <a:latin typeface="Calibri"/>
                <a:cs typeface="Calibri"/>
              </a:rPr>
              <a:t>r</a:t>
            </a:r>
            <a:r>
              <a:rPr lang="es-MX" sz="2000" spc="-5" dirty="0" err="1">
                <a:latin typeface="Calibri"/>
                <a:cs typeface="Calibri"/>
              </a:rPr>
              <a:t>s</a:t>
            </a:r>
            <a:r>
              <a:rPr lang="es-MX" sz="2000" spc="-5" dirty="0">
                <a:latin typeface="Calibri"/>
                <a:cs typeface="Calibri"/>
              </a:rPr>
              <a:t> y S</a:t>
            </a:r>
            <a:r>
              <a:rPr lang="es-MX" sz="2000" spc="5" dirty="0">
                <a:latin typeface="Calibri"/>
                <a:cs typeface="Calibri"/>
              </a:rPr>
              <a:t>er</a:t>
            </a:r>
            <a:r>
              <a:rPr lang="es-MX" sz="2000" spc="-10" dirty="0">
                <a:latin typeface="Calibri"/>
                <a:cs typeface="Calibri"/>
              </a:rPr>
              <a:t>vice</a:t>
            </a:r>
            <a:r>
              <a:rPr lang="es-MX" sz="2000" dirty="0">
                <a:latin typeface="Calibri"/>
                <a:cs typeface="Calibri"/>
              </a:rPr>
              <a:t>s) </a:t>
            </a:r>
            <a:r>
              <a:rPr lang="es-MX" sz="2000" spc="-5" dirty="0">
                <a:latin typeface="Calibri"/>
                <a:cs typeface="Calibri"/>
              </a:rPr>
              <a:t>obtendrán </a:t>
            </a:r>
            <a:r>
              <a:rPr sz="2000" spc="-5" dirty="0" err="1">
                <a:latin typeface="Calibri"/>
                <a:cs typeface="Calibri"/>
              </a:rPr>
              <a:t>di</a:t>
            </a:r>
            <a:r>
              <a:rPr sz="2000" spc="-35" dirty="0" err="1">
                <a:latin typeface="Calibri"/>
                <a:cs typeface="Calibri"/>
              </a:rPr>
              <a:t>r</a:t>
            </a:r>
            <a:r>
              <a:rPr sz="2000" spc="-15" dirty="0" err="1">
                <a:latin typeface="Calibri"/>
                <a:cs typeface="Calibri"/>
              </a:rPr>
              <a:t>e</a:t>
            </a:r>
            <a:r>
              <a:rPr sz="2000" spc="-10" dirty="0" err="1">
                <a:latin typeface="Calibri"/>
                <a:cs typeface="Calibri"/>
              </a:rPr>
              <a:t>c</a:t>
            </a:r>
            <a:r>
              <a:rPr sz="2000" dirty="0" err="1">
                <a:latin typeface="Calibri"/>
                <a:cs typeface="Calibri"/>
              </a:rPr>
              <a:t>ci</a:t>
            </a:r>
            <a:r>
              <a:rPr lang="es-MX" sz="2000" dirty="0" err="1">
                <a:latin typeface="Calibri"/>
                <a:cs typeface="Calibri"/>
              </a:rPr>
              <a:t>ones</a:t>
            </a:r>
            <a:r>
              <a:rPr sz="2000" spc="-15" dirty="0">
                <a:latin typeface="Calibri"/>
                <a:cs typeface="Calibri"/>
              </a:rPr>
              <a:t> IP</a:t>
            </a:r>
            <a:r>
              <a:rPr sz="2000" spc="-10" dirty="0">
                <a:latin typeface="Calibri"/>
                <a:cs typeface="Calibri"/>
              </a:rPr>
              <a:t> </a:t>
            </a:r>
            <a:r>
              <a:rPr sz="2000" spc="-5" dirty="0" err="1">
                <a:latin typeface="Calibri"/>
                <a:cs typeface="Calibri"/>
              </a:rPr>
              <a:t>dinámi</a:t>
            </a:r>
            <a:r>
              <a:rPr sz="2000" spc="-10" dirty="0" err="1">
                <a:latin typeface="Calibri"/>
                <a:cs typeface="Calibri"/>
              </a:rPr>
              <a:t>c</a:t>
            </a:r>
            <a:r>
              <a:rPr sz="2000" dirty="0" err="1">
                <a:latin typeface="Calibri"/>
                <a:cs typeface="Calibri"/>
              </a:rPr>
              <a:t>a</a:t>
            </a:r>
            <a:r>
              <a:rPr lang="es-MX" sz="2000" dirty="0">
                <a:latin typeface="Calibri"/>
                <a:cs typeface="Calibri"/>
              </a:rPr>
              <a:t>s</a:t>
            </a:r>
            <a:r>
              <a:rPr sz="2000" spc="-1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(</a:t>
            </a:r>
            <a:r>
              <a:rPr sz="2000" b="1" spc="-5" dirty="0">
                <a:latin typeface="Calibri"/>
                <a:cs typeface="Calibri"/>
              </a:rPr>
              <a:t>DHCP</a:t>
            </a:r>
            <a:r>
              <a:rPr sz="2000" dirty="0">
                <a:latin typeface="Calibri"/>
                <a:cs typeface="Calibri"/>
              </a:rPr>
              <a:t>)</a:t>
            </a:r>
          </a:p>
          <a:p>
            <a:pPr marL="469900" marR="6350" indent="-457200">
              <a:lnSpc>
                <a:spcPts val="3000"/>
              </a:lnSpc>
              <a:buFont typeface="+mj-lt"/>
              <a:buAutoNum type="arabicPeriod"/>
              <a:tabLst>
                <a:tab pos="314960" algn="l"/>
              </a:tabLst>
            </a:pPr>
            <a:r>
              <a:rPr lang="es-MX" sz="18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Configura</a:t>
            </a:r>
            <a:r>
              <a:rPr lang="es-MX" sz="1800" spc="9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s-MX" sz="1800" spc="5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la</a:t>
            </a:r>
            <a:r>
              <a:rPr lang="es-MX" sz="1800" spc="95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s-MX" sz="1800" b="1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VLAN1</a:t>
            </a:r>
            <a:r>
              <a:rPr lang="es-MX" sz="1800" b="1" spc="25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s-MX" sz="1800" spc="-5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del switch </a:t>
            </a:r>
            <a:r>
              <a:rPr lang="es-MX" sz="1800" b="1" spc="-5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SCompany</a:t>
            </a:r>
            <a:r>
              <a:rPr lang="es-MX" sz="1800" spc="-5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con la </a:t>
            </a:r>
            <a:r>
              <a:rPr lang="es-MX" spc="-5" dirty="0"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primera</a:t>
            </a:r>
            <a:r>
              <a:rPr lang="es-MX" sz="1800" spc="-5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IP valida de la subred y el</a:t>
            </a:r>
            <a:r>
              <a:rPr lang="es-MX" sz="1800" spc="5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s-MX" sz="1800" b="1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default </a:t>
            </a:r>
            <a:r>
              <a:rPr lang="es-MX" sz="1800" b="1" spc="-5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Gateway</a:t>
            </a:r>
            <a:r>
              <a:rPr lang="es-MX" sz="1800" spc="-5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  <a:endParaRPr lang="es-MX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469900" marR="6350" indent="-457200">
              <a:lnSpc>
                <a:spcPts val="3000"/>
              </a:lnSpc>
              <a:buFont typeface="+mj-lt"/>
              <a:buAutoNum type="arabicPeriod"/>
              <a:tabLst>
                <a:tab pos="314960" algn="l"/>
              </a:tabLst>
            </a:pPr>
            <a:r>
              <a:rPr lang="es-ES" sz="2000" spc="-20" dirty="0">
                <a:latin typeface="Calibri"/>
                <a:cs typeface="Calibri"/>
              </a:rPr>
              <a:t>Deb</a:t>
            </a:r>
            <a:r>
              <a:rPr lang="es-ES" sz="2000" spc="-10" dirty="0">
                <a:latin typeface="Calibri"/>
                <a:cs typeface="Calibri"/>
              </a:rPr>
              <a:t>e</a:t>
            </a:r>
            <a:r>
              <a:rPr lang="es-ES" sz="2000" dirty="0">
                <a:latin typeface="Calibri"/>
                <a:cs typeface="Calibri"/>
              </a:rPr>
              <a:t>mos</a:t>
            </a:r>
            <a:r>
              <a:rPr lang="es-ES" sz="2000" spc="20" dirty="0">
                <a:latin typeface="Calibri"/>
                <a:cs typeface="Calibri"/>
              </a:rPr>
              <a:t> </a:t>
            </a:r>
            <a:r>
              <a:rPr lang="es-ES" sz="2000" spc="-35" dirty="0">
                <a:latin typeface="Calibri"/>
                <a:cs typeface="Calibri"/>
              </a:rPr>
              <a:t>c</a:t>
            </a:r>
            <a:r>
              <a:rPr lang="es-ES" sz="2000" spc="-5" dirty="0">
                <a:latin typeface="Calibri"/>
                <a:cs typeface="Calibri"/>
              </a:rPr>
              <a:t>onec</a:t>
            </a:r>
            <a:r>
              <a:rPr lang="es-ES" sz="2000" spc="-20" dirty="0">
                <a:latin typeface="Calibri"/>
                <a:cs typeface="Calibri"/>
              </a:rPr>
              <a:t>t</a:t>
            </a:r>
            <a:r>
              <a:rPr lang="es-ES" sz="2000" spc="-10" dirty="0">
                <a:latin typeface="Calibri"/>
                <a:cs typeface="Calibri"/>
              </a:rPr>
              <a:t>ar</a:t>
            </a:r>
            <a:r>
              <a:rPr lang="es-ES" sz="2000" spc="20" dirty="0">
                <a:latin typeface="Calibri"/>
                <a:cs typeface="Calibri"/>
              </a:rPr>
              <a:t> </a:t>
            </a:r>
            <a:r>
              <a:rPr lang="es-ES" sz="2000" dirty="0">
                <a:latin typeface="Calibri"/>
                <a:cs typeface="Calibri"/>
              </a:rPr>
              <a:t>la</a:t>
            </a:r>
            <a:r>
              <a:rPr lang="es-ES" sz="2000" spc="20" dirty="0">
                <a:latin typeface="Calibri"/>
                <a:cs typeface="Calibri"/>
              </a:rPr>
              <a:t> </a:t>
            </a:r>
            <a:r>
              <a:rPr lang="es-ES" sz="2000" spc="-55" dirty="0">
                <a:latin typeface="Calibri"/>
                <a:cs typeface="Calibri"/>
              </a:rPr>
              <a:t>r</a:t>
            </a:r>
            <a:r>
              <a:rPr lang="es-ES" sz="2000" spc="-15" dirty="0">
                <a:latin typeface="Calibri"/>
                <a:cs typeface="Calibri"/>
              </a:rPr>
              <a:t>ed</a:t>
            </a:r>
            <a:r>
              <a:rPr lang="es-ES" sz="2000" spc="25" dirty="0">
                <a:latin typeface="Calibri"/>
                <a:cs typeface="Calibri"/>
              </a:rPr>
              <a:t> </a:t>
            </a:r>
            <a:r>
              <a:rPr lang="es-ES" sz="2000" dirty="0">
                <a:latin typeface="Calibri"/>
                <a:cs typeface="Calibri"/>
              </a:rPr>
              <a:t>lo</a:t>
            </a:r>
            <a:r>
              <a:rPr lang="es-ES" sz="2000" spc="-30" dirty="0">
                <a:latin typeface="Calibri"/>
                <a:cs typeface="Calibri"/>
              </a:rPr>
              <a:t>c</a:t>
            </a:r>
            <a:r>
              <a:rPr lang="es-ES" sz="2000" dirty="0">
                <a:latin typeface="Calibri"/>
                <a:cs typeface="Calibri"/>
              </a:rPr>
              <a:t>al</a:t>
            </a:r>
            <a:r>
              <a:rPr lang="es-ES" sz="2000" spc="25" dirty="0">
                <a:latin typeface="Calibri"/>
                <a:cs typeface="Calibri"/>
              </a:rPr>
              <a:t> </a:t>
            </a:r>
            <a:r>
              <a:rPr lang="es-ES" sz="2000" dirty="0">
                <a:latin typeface="Calibri"/>
                <a:cs typeface="Calibri"/>
              </a:rPr>
              <a:t>a</a:t>
            </a:r>
            <a:r>
              <a:rPr lang="es-ES" sz="2000" spc="20" dirty="0">
                <a:latin typeface="Calibri"/>
                <a:cs typeface="Calibri"/>
              </a:rPr>
              <a:t> </a:t>
            </a:r>
            <a:r>
              <a:rPr lang="es-ES" sz="2000" dirty="0">
                <a:latin typeface="Calibri"/>
                <a:cs typeface="Calibri"/>
              </a:rPr>
              <a:t>los</a:t>
            </a:r>
            <a:r>
              <a:rPr lang="es-ES" sz="2000" spc="10" dirty="0">
                <a:latin typeface="Calibri"/>
                <a:cs typeface="Calibri"/>
              </a:rPr>
              <a:t> </a:t>
            </a:r>
            <a:r>
              <a:rPr lang="es-ES" sz="2000" spc="-20" dirty="0">
                <a:latin typeface="Calibri"/>
                <a:cs typeface="Calibri"/>
              </a:rPr>
              <a:t>se</a:t>
            </a:r>
            <a:r>
              <a:rPr lang="es-ES" sz="2000" spc="15" dirty="0">
                <a:latin typeface="Calibri"/>
                <a:cs typeface="Calibri"/>
              </a:rPr>
              <a:t>r</a:t>
            </a:r>
            <a:r>
              <a:rPr lang="es-ES" sz="2000" dirty="0">
                <a:latin typeface="Calibri"/>
                <a:cs typeface="Calibri"/>
              </a:rPr>
              <a:t>vicios</a:t>
            </a:r>
            <a:r>
              <a:rPr lang="es-ES" sz="2000" spc="15" dirty="0">
                <a:latin typeface="Calibri"/>
                <a:cs typeface="Calibri"/>
              </a:rPr>
              <a:t> </a:t>
            </a:r>
            <a:r>
              <a:rPr lang="es-ES" sz="2000" spc="-20" dirty="0">
                <a:latin typeface="Calibri"/>
                <a:cs typeface="Calibri"/>
              </a:rPr>
              <a:t>d</a:t>
            </a:r>
            <a:r>
              <a:rPr lang="es-ES" sz="2000" spc="-15" dirty="0">
                <a:latin typeface="Calibri"/>
                <a:cs typeface="Calibri"/>
              </a:rPr>
              <a:t>e</a:t>
            </a:r>
            <a:r>
              <a:rPr lang="es-ES" sz="2000" spc="25" dirty="0">
                <a:latin typeface="Calibri"/>
                <a:cs typeface="Calibri"/>
              </a:rPr>
              <a:t> </a:t>
            </a:r>
            <a:r>
              <a:rPr lang="es-ES" sz="2000" dirty="0">
                <a:latin typeface="Calibri"/>
                <a:cs typeface="Calibri"/>
              </a:rPr>
              <a:t>I</a:t>
            </a:r>
            <a:r>
              <a:rPr lang="es-ES" sz="2000" spc="-30" dirty="0">
                <a:latin typeface="Calibri"/>
                <a:cs typeface="Calibri"/>
              </a:rPr>
              <a:t>n</a:t>
            </a:r>
            <a:r>
              <a:rPr lang="es-ES" sz="2000" spc="-35" dirty="0">
                <a:latin typeface="Calibri"/>
                <a:cs typeface="Calibri"/>
              </a:rPr>
              <a:t>t</a:t>
            </a:r>
            <a:r>
              <a:rPr lang="es-ES" sz="2000" spc="-15" dirty="0">
                <a:latin typeface="Calibri"/>
                <a:cs typeface="Calibri"/>
              </a:rPr>
              <a:t>e</a:t>
            </a:r>
            <a:r>
              <a:rPr lang="es-ES" sz="2000" dirty="0">
                <a:latin typeface="Calibri"/>
                <a:cs typeface="Calibri"/>
              </a:rPr>
              <a:t>r</a:t>
            </a:r>
            <a:r>
              <a:rPr lang="es-ES" sz="2000" spc="-20" dirty="0">
                <a:latin typeface="Calibri"/>
                <a:cs typeface="Calibri"/>
              </a:rPr>
              <a:t>net. Para interconectar la red local con el proveedor de servicios es necesario instalar una </a:t>
            </a:r>
            <a:r>
              <a:rPr lang="es-ES" sz="2000" b="1" spc="-20" dirty="0">
                <a:latin typeface="Calibri"/>
                <a:cs typeface="Calibri"/>
              </a:rPr>
              <a:t>ruta por default</a:t>
            </a:r>
            <a:r>
              <a:rPr lang="es-ES" sz="2000" spc="-20" dirty="0">
                <a:latin typeface="Calibri"/>
                <a:cs typeface="Calibri"/>
              </a:rPr>
              <a:t>. </a:t>
            </a:r>
          </a:p>
          <a:p>
            <a:pPr marL="469900" marR="6350" indent="-457200">
              <a:lnSpc>
                <a:spcPts val="3000"/>
              </a:lnSpc>
              <a:buFont typeface="+mj-lt"/>
              <a:buAutoNum type="arabicPeriod"/>
              <a:tabLst>
                <a:tab pos="314960" algn="l"/>
              </a:tabLst>
            </a:pPr>
            <a:r>
              <a:rPr lang="es-ES" sz="2000" spc="-20" dirty="0">
                <a:latin typeface="Calibri"/>
                <a:cs typeface="Calibri"/>
              </a:rPr>
              <a:t>Debemos configurar rutas estáticas en el </a:t>
            </a:r>
            <a:r>
              <a:rPr lang="es-ES" sz="2000" b="1" spc="-20" dirty="0">
                <a:latin typeface="Calibri"/>
                <a:cs typeface="Calibri"/>
              </a:rPr>
              <a:t>ISP</a:t>
            </a:r>
            <a:r>
              <a:rPr lang="es-ES" sz="2000" spc="-20" dirty="0">
                <a:latin typeface="Calibri"/>
                <a:cs typeface="Calibri"/>
              </a:rPr>
              <a:t> para que se pueda conectar con la red local.</a:t>
            </a:r>
          </a:p>
          <a:p>
            <a:pPr marL="469900" marR="6350" indent="-457200">
              <a:lnSpc>
                <a:spcPts val="3000"/>
              </a:lnSpc>
              <a:buFont typeface="+mj-lt"/>
              <a:buAutoNum type="arabicPeriod"/>
              <a:tabLst>
                <a:tab pos="314960" algn="l"/>
              </a:tabLst>
            </a:pPr>
            <a:r>
              <a:rPr lang="es-MX" sz="2000" spc="-50" noProof="1">
                <a:latin typeface="Calibri"/>
                <a:cs typeface="Calibri"/>
              </a:rPr>
              <a:t>R</a:t>
            </a:r>
            <a:r>
              <a:rPr lang="es-MX" sz="2000" spc="-15" noProof="1">
                <a:latin typeface="Calibri"/>
                <a:cs typeface="Calibri"/>
              </a:rPr>
              <a:t>ea</a:t>
            </a:r>
            <a:r>
              <a:rPr lang="es-MX" sz="2000" noProof="1">
                <a:latin typeface="Calibri"/>
                <a:cs typeface="Calibri"/>
              </a:rPr>
              <a:t>li</a:t>
            </a:r>
            <a:r>
              <a:rPr lang="es-MX" sz="2000" spc="-40" noProof="1">
                <a:latin typeface="Calibri"/>
                <a:cs typeface="Calibri"/>
              </a:rPr>
              <a:t>z</a:t>
            </a:r>
            <a:r>
              <a:rPr lang="es-MX" sz="2000" spc="-10" noProof="1">
                <a:latin typeface="Calibri"/>
                <a:cs typeface="Calibri"/>
              </a:rPr>
              <a:t>a</a:t>
            </a:r>
            <a:r>
              <a:rPr sz="2000" spc="-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las</a:t>
            </a:r>
            <a:r>
              <a:rPr sz="2000" spc="-5" dirty="0">
                <a:latin typeface="Calibri"/>
                <a:cs typeface="Calibri"/>
              </a:rPr>
              <a:t> </a:t>
            </a:r>
            <a:r>
              <a:rPr sz="2000" b="1" spc="-20" dirty="0">
                <a:latin typeface="Calibri"/>
                <a:cs typeface="Calibri"/>
              </a:rPr>
              <a:t>pru</a:t>
            </a:r>
            <a:r>
              <a:rPr sz="2000" b="1" spc="-10" dirty="0">
                <a:latin typeface="Calibri"/>
                <a:cs typeface="Calibri"/>
              </a:rPr>
              <a:t>e</a:t>
            </a:r>
            <a:r>
              <a:rPr sz="2000" b="1" spc="-5" dirty="0">
                <a:latin typeface="Calibri"/>
                <a:cs typeface="Calibri"/>
              </a:rPr>
              <a:t>ba</a:t>
            </a:r>
            <a:r>
              <a:rPr sz="2000" b="1" dirty="0">
                <a:latin typeface="Calibri"/>
                <a:cs typeface="Calibri"/>
              </a:rPr>
              <a:t>s </a:t>
            </a:r>
            <a:r>
              <a:rPr sz="2000" b="1" spc="-20" dirty="0">
                <a:latin typeface="Calibri"/>
                <a:cs typeface="Calibri"/>
              </a:rPr>
              <a:t>d</a:t>
            </a:r>
            <a:r>
              <a:rPr sz="2000" b="1" spc="-15" dirty="0">
                <a:latin typeface="Calibri"/>
                <a:cs typeface="Calibri"/>
              </a:rPr>
              <a:t>e</a:t>
            </a:r>
            <a:r>
              <a:rPr sz="2000" b="1" dirty="0">
                <a:latin typeface="Calibri"/>
                <a:cs typeface="Calibri"/>
              </a:rPr>
              <a:t> </a:t>
            </a:r>
            <a:r>
              <a:rPr sz="2000" b="1" spc="-35" dirty="0">
                <a:latin typeface="Calibri"/>
                <a:cs typeface="Calibri"/>
              </a:rPr>
              <a:t>c</a:t>
            </a:r>
            <a:r>
              <a:rPr sz="2000" b="1" spc="-5" dirty="0">
                <a:latin typeface="Calibri"/>
                <a:cs typeface="Calibri"/>
              </a:rPr>
              <a:t>onectivida</a:t>
            </a:r>
            <a:r>
              <a:rPr sz="2000" b="1" dirty="0">
                <a:latin typeface="Calibri"/>
                <a:cs typeface="Calibri"/>
              </a:rPr>
              <a:t>d</a:t>
            </a:r>
            <a:r>
              <a:rPr sz="2000" b="1" spc="10" dirty="0">
                <a:latin typeface="Calibri"/>
                <a:cs typeface="Calibri"/>
              </a:rPr>
              <a:t> </a:t>
            </a:r>
            <a:r>
              <a:rPr sz="2000" spc="-20" dirty="0" err="1">
                <a:latin typeface="Calibri"/>
                <a:cs typeface="Calibri"/>
              </a:rPr>
              <a:t>ne</a:t>
            </a:r>
            <a:r>
              <a:rPr sz="2000" spc="-10" dirty="0" err="1">
                <a:latin typeface="Calibri"/>
                <a:cs typeface="Calibri"/>
              </a:rPr>
              <a:t>c</a:t>
            </a:r>
            <a:r>
              <a:rPr sz="2000" spc="-15" dirty="0" err="1">
                <a:latin typeface="Calibri"/>
                <a:cs typeface="Calibri"/>
              </a:rPr>
              <a:t>esar</a:t>
            </a:r>
            <a:r>
              <a:rPr sz="2000" dirty="0" err="1">
                <a:latin typeface="Calibri"/>
                <a:cs typeface="Calibri"/>
              </a:rPr>
              <a:t>ias</a:t>
            </a:r>
            <a:r>
              <a:rPr sz="2000" dirty="0">
                <a:latin typeface="Calibri"/>
                <a:cs typeface="Calibri"/>
              </a:rPr>
              <a:t>.</a:t>
            </a:r>
            <a:endParaRPr lang="es-MX" sz="2000" dirty="0">
              <a:latin typeface="Calibri"/>
              <a:cs typeface="Calibri"/>
            </a:endParaRPr>
          </a:p>
          <a:p>
            <a:pPr marL="469900" marR="6350" indent="-457200">
              <a:lnSpc>
                <a:spcPts val="3000"/>
              </a:lnSpc>
              <a:buFont typeface="+mj-lt"/>
              <a:buAutoNum type="arabicPeriod"/>
              <a:tabLst>
                <a:tab pos="314960" algn="l"/>
              </a:tabLst>
            </a:pPr>
            <a:r>
              <a:rPr lang="es-MX" sz="2000" dirty="0">
                <a:latin typeface="Calibri"/>
                <a:cs typeface="Calibri"/>
              </a:rPr>
              <a:t>Configura el switch </a:t>
            </a:r>
            <a:r>
              <a:rPr lang="es-MX" sz="2000" b="1" dirty="0" err="1">
                <a:latin typeface="Calibri"/>
                <a:cs typeface="Calibri"/>
              </a:rPr>
              <a:t>SCompany</a:t>
            </a:r>
            <a:r>
              <a:rPr lang="es-MX" sz="2000" b="1" dirty="0">
                <a:latin typeface="Calibri"/>
                <a:cs typeface="Calibri"/>
              </a:rPr>
              <a:t> </a:t>
            </a:r>
            <a:r>
              <a:rPr lang="es-MX" sz="2000" dirty="0">
                <a:latin typeface="Calibri"/>
                <a:cs typeface="Calibri"/>
              </a:rPr>
              <a:t>para acceso remoto por SSH.</a:t>
            </a:r>
            <a:endParaRPr sz="2000" dirty="0">
              <a:latin typeface="Calibri"/>
              <a:cs typeface="Calibri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50439E7-051A-49D7-BFD6-237A56112EE4}"/>
              </a:ext>
            </a:extLst>
          </p:cNvPr>
          <p:cNvSpPr txBox="1">
            <a:spLocks noChangeArrowheads="1"/>
          </p:cNvSpPr>
          <p:nvPr/>
        </p:nvSpPr>
        <p:spPr>
          <a:xfrm>
            <a:off x="762000" y="152400"/>
            <a:ext cx="10443519" cy="1124744"/>
          </a:xfrm>
          <a:prstGeom prst="rect">
            <a:avLst/>
          </a:prstGeom>
        </p:spPr>
        <p:txBody>
          <a:bodyPr vert="horz" lIns="92075" tIns="46038" rIns="92075" bIns="46038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s-ES_tradnl" sz="3200" dirty="0">
                <a:solidFill>
                  <a:srgbClr val="3333CC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 </a:t>
            </a:r>
            <a:r>
              <a:rPr lang="es-ES_tradnl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Restricciones y consideraciones del cliente</a:t>
            </a:r>
          </a:p>
        </p:txBody>
      </p:sp>
      <p:pic>
        <p:nvPicPr>
          <p:cNvPr id="5" name="Imagen 4" descr="Un ratón de computadora&#10;&#10;Descripción generada automáticamente con confianza media">
            <a:extLst>
              <a:ext uri="{FF2B5EF4-FFF2-40B4-BE49-F238E27FC236}">
                <a16:creationId xmlns:a16="http://schemas.microsoft.com/office/drawing/2014/main" id="{927F9FD1-2B32-4E2C-B331-0E2268D604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30434" y="4689022"/>
            <a:ext cx="2485571" cy="186417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3AAB7B-8EB9-2961-EB16-8902E6D7EC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23AD5214-4AC7-7075-4413-D09E6FAC15DE}"/>
              </a:ext>
            </a:extLst>
          </p:cNvPr>
          <p:cNvSpPr txBox="1"/>
          <p:nvPr/>
        </p:nvSpPr>
        <p:spPr>
          <a:xfrm>
            <a:off x="2743200" y="403453"/>
            <a:ext cx="6155055" cy="80021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algn="ctr">
              <a:lnSpc>
                <a:spcPct val="100000"/>
              </a:lnSpc>
            </a:pPr>
            <a:r>
              <a:rPr lang="es-ES" sz="3200" b="1" spc="-25" dirty="0">
                <a:latin typeface="Calibri"/>
                <a:cs typeface="Calibri"/>
              </a:rPr>
              <a:t>Configuración de interface s0/0/1</a:t>
            </a:r>
          </a:p>
          <a:p>
            <a:pPr marL="12700" algn="ctr">
              <a:lnSpc>
                <a:spcPct val="100000"/>
              </a:lnSpc>
            </a:pPr>
            <a:r>
              <a:rPr lang="es-ES" sz="2000" spc="-25" dirty="0">
                <a:latin typeface="Calibri"/>
                <a:cs typeface="Calibri"/>
              </a:rPr>
              <a:t>Ruteador</a:t>
            </a:r>
            <a:endParaRPr sz="2000" dirty="0">
              <a:latin typeface="Calibri"/>
              <a:cs typeface="Calibri"/>
            </a:endParaRPr>
          </a:p>
        </p:txBody>
      </p:sp>
      <p:sp>
        <p:nvSpPr>
          <p:cNvPr id="9" name="7 CuadroTexto">
            <a:extLst>
              <a:ext uri="{FF2B5EF4-FFF2-40B4-BE49-F238E27FC236}">
                <a16:creationId xmlns:a16="http://schemas.microsoft.com/office/drawing/2014/main" id="{39514E9B-142C-0CB4-6917-350F4775BAF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5800" y="1905000"/>
            <a:ext cx="3200400" cy="17030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es-ES" sz="1800" dirty="0">
                <a:latin typeface="Arial" panose="020B0604020202020204" pitchFamily="34" charset="0"/>
                <a:cs typeface="Arial" panose="020B0604020202020204" pitchFamily="34" charset="0"/>
              </a:rPr>
              <a:t>Configura la interface </a:t>
            </a:r>
            <a:r>
              <a:rPr lang="es-ES" sz="1800" b="1" dirty="0">
                <a:latin typeface="Arial" panose="020B0604020202020204" pitchFamily="34" charset="0"/>
                <a:cs typeface="Arial" panose="020B0604020202020204" pitchFamily="34" charset="0"/>
              </a:rPr>
              <a:t>s0/0/1</a:t>
            </a:r>
          </a:p>
          <a:p>
            <a:pPr>
              <a:lnSpc>
                <a:spcPct val="150000"/>
              </a:lnSpc>
            </a:pPr>
            <a:r>
              <a:rPr lang="es-ES" sz="1800" b="1" dirty="0">
                <a:latin typeface="Arial" panose="020B0604020202020204" pitchFamily="34" charset="0"/>
                <a:cs typeface="Arial" panose="020B0604020202020204" pitchFamily="34" charset="0"/>
              </a:rPr>
              <a:t>NOTA: </a:t>
            </a:r>
            <a:r>
              <a:rPr lang="es-ES" sz="1800" dirty="0">
                <a:latin typeface="Arial" panose="020B0604020202020204" pitchFamily="34" charset="0"/>
                <a:cs typeface="Arial" panose="020B0604020202020204" pitchFamily="34" charset="0"/>
              </a:rPr>
              <a:t>Las interfaces seriales </a:t>
            </a:r>
            <a:r>
              <a:rPr lang="es-ES" sz="1800" b="1" dirty="0">
                <a:latin typeface="Arial" panose="020B0604020202020204" pitchFamily="34" charset="0"/>
                <a:cs typeface="Arial" panose="020B0604020202020204" pitchFamily="34" charset="0"/>
              </a:rPr>
              <a:t>DCE</a:t>
            </a:r>
            <a:r>
              <a:rPr lang="es-ES" sz="1800" dirty="0">
                <a:latin typeface="Arial" panose="020B0604020202020204" pitchFamily="34" charset="0"/>
                <a:cs typeface="Arial" panose="020B0604020202020204" pitchFamily="34" charset="0"/>
              </a:rPr>
              <a:t> se les configura un </a:t>
            </a:r>
            <a:r>
              <a:rPr lang="es-ES" sz="1800" b="1" dirty="0" err="1">
                <a:latin typeface="Arial" panose="020B0604020202020204" pitchFamily="34" charset="0"/>
                <a:cs typeface="Arial" panose="020B0604020202020204" pitchFamily="34" charset="0"/>
              </a:rPr>
              <a:t>clock</a:t>
            </a:r>
            <a:r>
              <a:rPr lang="es-ES" sz="18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" sz="1800" b="1" dirty="0" err="1">
                <a:latin typeface="Arial" panose="020B0604020202020204" pitchFamily="34" charset="0"/>
                <a:cs typeface="Arial" panose="020B0604020202020204" pitchFamily="34" charset="0"/>
              </a:rPr>
              <a:t>rate</a:t>
            </a:r>
            <a:r>
              <a:rPr lang="es-ES" sz="18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" sz="1800" dirty="0">
                <a:latin typeface="Arial" panose="020B0604020202020204" pitchFamily="34" charset="0"/>
                <a:cs typeface="Arial" panose="020B0604020202020204" pitchFamily="34" charset="0"/>
              </a:rPr>
              <a:t>de </a:t>
            </a:r>
            <a:r>
              <a:rPr lang="es-ES" sz="1800" b="1" dirty="0">
                <a:latin typeface="Arial" panose="020B0604020202020204" pitchFamily="34" charset="0"/>
                <a:cs typeface="Arial" panose="020B0604020202020204" pitchFamily="34" charset="0"/>
              </a:rPr>
              <a:t>128000</a:t>
            </a:r>
            <a:r>
              <a:rPr lang="es-ES" sz="18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es-MX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DC6B032-87D3-7C7F-265B-A797D17D2A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1752600"/>
            <a:ext cx="7848600" cy="4301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16250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79CD346-055E-7D20-8806-3ACF5721EC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1687664"/>
            <a:ext cx="7898655" cy="4329272"/>
          </a:xfrm>
          <a:prstGeom prst="rect">
            <a:avLst/>
          </a:prstGeom>
        </p:spPr>
      </p:pic>
      <p:sp>
        <p:nvSpPr>
          <p:cNvPr id="2" name="object 2"/>
          <p:cNvSpPr txBox="1"/>
          <p:nvPr/>
        </p:nvSpPr>
        <p:spPr>
          <a:xfrm>
            <a:off x="3276600" y="160126"/>
            <a:ext cx="5164455" cy="80021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algn="ctr">
              <a:lnSpc>
                <a:spcPct val="100000"/>
              </a:lnSpc>
            </a:pPr>
            <a:r>
              <a:rPr lang="es-ES" sz="3200" b="1" spc="-25" dirty="0">
                <a:latin typeface="Calibri"/>
                <a:cs typeface="Calibri"/>
              </a:rPr>
              <a:t>Configuración de VLANs</a:t>
            </a:r>
          </a:p>
          <a:p>
            <a:pPr marL="12700" algn="ctr">
              <a:lnSpc>
                <a:spcPct val="100000"/>
              </a:lnSpc>
            </a:pPr>
            <a:r>
              <a:rPr lang="es-ES" sz="2000" spc="-25" dirty="0">
                <a:latin typeface="Calibri"/>
                <a:cs typeface="Calibri"/>
              </a:rPr>
              <a:t>Ruteador</a:t>
            </a:r>
            <a:endParaRPr sz="2000" dirty="0">
              <a:latin typeface="Calibri"/>
              <a:cs typeface="Calibri"/>
            </a:endParaRPr>
          </a:p>
        </p:txBody>
      </p:sp>
      <p:sp>
        <p:nvSpPr>
          <p:cNvPr id="9" name="7 CuadroTexto">
            <a:extLst>
              <a:ext uri="{FF2B5EF4-FFF2-40B4-BE49-F238E27FC236}">
                <a16:creationId xmlns:a16="http://schemas.microsoft.com/office/drawing/2014/main" id="{134ED542-4C7D-4B50-8C07-A5B19B10A18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4800" y="988947"/>
            <a:ext cx="11430000" cy="6987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es-ES" sz="1400" dirty="0">
                <a:latin typeface="Arial" panose="020B0604020202020204" pitchFamily="34" charset="0"/>
                <a:cs typeface="Arial" panose="020B0604020202020204" pitchFamily="34" charset="0"/>
              </a:rPr>
              <a:t>Las </a:t>
            </a:r>
            <a:r>
              <a:rPr lang="es-ES" sz="1400" b="1" dirty="0">
                <a:latin typeface="Arial" panose="020B0604020202020204" pitchFamily="34" charset="0"/>
                <a:cs typeface="Arial" panose="020B0604020202020204" pitchFamily="34" charset="0"/>
              </a:rPr>
              <a:t>VLANs </a:t>
            </a:r>
            <a:r>
              <a:rPr lang="es-ES" sz="1400" dirty="0">
                <a:latin typeface="Arial" panose="020B0604020202020204" pitchFamily="34" charset="0"/>
                <a:cs typeface="Arial" panose="020B0604020202020204" pitchFamily="34" charset="0"/>
              </a:rPr>
              <a:t>son redes virtuales que permiten </a:t>
            </a:r>
            <a:r>
              <a:rPr lang="es-ES" sz="1400" b="1" dirty="0">
                <a:latin typeface="Arial" panose="020B0604020202020204" pitchFamily="34" charset="0"/>
                <a:cs typeface="Arial" panose="020B0604020202020204" pitchFamily="34" charset="0"/>
              </a:rPr>
              <a:t>segmentar el tráfico </a:t>
            </a:r>
            <a:r>
              <a:rPr lang="es-ES" sz="1400" dirty="0">
                <a:latin typeface="Arial" panose="020B0604020202020204" pitchFamily="34" charset="0"/>
                <a:cs typeface="Arial" panose="020B0604020202020204" pitchFamily="34" charset="0"/>
              </a:rPr>
              <a:t>y tener distintos dominios de broadcast en una misma interface del router, con el uso de las subinterfaces. </a:t>
            </a:r>
            <a:endParaRPr lang="es-MX" sz="1400" dirty="0">
              <a:solidFill>
                <a:schemeClr val="bg2">
                  <a:lumMod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7 CuadroTexto">
            <a:extLst>
              <a:ext uri="{FF2B5EF4-FFF2-40B4-BE49-F238E27FC236}">
                <a16:creationId xmlns:a16="http://schemas.microsoft.com/office/drawing/2014/main" id="{38E0D603-2C5E-46E8-85CD-52C2F196B0A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4800" y="1762918"/>
            <a:ext cx="3733800" cy="448436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marL="285750" indent="-285750">
              <a:lnSpc>
                <a:spcPct val="15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1400" dirty="0">
                <a:latin typeface="Arial" panose="020B0604020202020204" pitchFamily="34" charset="0"/>
                <a:cs typeface="Arial" panose="020B0604020202020204" pitchFamily="34" charset="0"/>
              </a:rPr>
              <a:t>El definir subinterfaces en el </a:t>
            </a:r>
            <a:r>
              <a:rPr lang="es-ES" sz="1400" b="1" dirty="0">
                <a:latin typeface="Arial" panose="020B0604020202020204" pitchFamily="34" charset="0"/>
                <a:cs typeface="Arial" panose="020B0604020202020204" pitchFamily="34" charset="0"/>
              </a:rPr>
              <a:t>RFrontera</a:t>
            </a:r>
            <a:r>
              <a:rPr lang="es-ES" sz="1400" dirty="0">
                <a:latin typeface="Arial" panose="020B0604020202020204" pitchFamily="34" charset="0"/>
                <a:cs typeface="Arial" panose="020B0604020202020204" pitchFamily="34" charset="0"/>
              </a:rPr>
              <a:t> implica que la interface </a:t>
            </a:r>
            <a:r>
              <a:rPr lang="es-ES" sz="1400" b="1" dirty="0">
                <a:latin typeface="Arial" panose="020B0604020202020204" pitchFamily="34" charset="0"/>
                <a:cs typeface="Arial" panose="020B0604020202020204" pitchFamily="34" charset="0"/>
              </a:rPr>
              <a:t>g0/0</a:t>
            </a:r>
            <a:r>
              <a:rPr lang="es-ES" sz="1400" dirty="0">
                <a:latin typeface="Arial" panose="020B0604020202020204" pitchFamily="34" charset="0"/>
                <a:cs typeface="Arial" panose="020B0604020202020204" pitchFamily="34" charset="0"/>
              </a:rPr>
              <a:t> recibe peticiones de la </a:t>
            </a:r>
            <a:r>
              <a:rPr lang="es-ES" sz="1400" b="1" dirty="0">
                <a:latin typeface="Arial" panose="020B0604020202020204" pitchFamily="34" charset="0"/>
                <a:cs typeface="Arial" panose="020B0604020202020204" pitchFamily="34" charset="0"/>
              </a:rPr>
              <a:t>vlan 10</a:t>
            </a:r>
            <a:r>
              <a:rPr lang="es-ES" sz="14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s-ES" sz="1400" b="1" dirty="0">
                <a:latin typeface="Arial" panose="020B0604020202020204" pitchFamily="34" charset="0"/>
                <a:cs typeface="Arial" panose="020B0604020202020204" pitchFamily="34" charset="0"/>
              </a:rPr>
              <a:t>vlan 20 </a:t>
            </a:r>
            <a:r>
              <a:rPr lang="es-ES" sz="1400" dirty="0">
                <a:latin typeface="Arial" panose="020B0604020202020204" pitchFamily="34" charset="0"/>
                <a:cs typeface="Arial" panose="020B0604020202020204" pitchFamily="34" charset="0"/>
              </a:rPr>
              <a:t>y </a:t>
            </a:r>
            <a:r>
              <a:rPr lang="es-ES" sz="1400" b="1" dirty="0">
                <a:latin typeface="Arial" panose="020B0604020202020204" pitchFamily="34" charset="0"/>
                <a:cs typeface="Arial" panose="020B0604020202020204" pitchFamily="34" charset="0"/>
              </a:rPr>
              <a:t>vlan 30</a:t>
            </a:r>
            <a:r>
              <a:rPr lang="es-ES" sz="14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es-ES_tradnl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marL="285750" indent="-285750">
              <a:lnSpc>
                <a:spcPct val="15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1400" dirty="0">
                <a:latin typeface="Arial" panose="020B0604020202020204" pitchFamily="34" charset="0"/>
                <a:cs typeface="Arial" panose="020B0604020202020204" pitchFamily="34" charset="0"/>
              </a:rPr>
              <a:t>Las subinterfaces se definen con la interface </a:t>
            </a:r>
            <a:r>
              <a:rPr lang="es-ES" sz="1400" b="1" dirty="0">
                <a:latin typeface="Arial" panose="020B0604020202020204" pitchFamily="34" charset="0"/>
                <a:cs typeface="Arial" panose="020B0604020202020204" pitchFamily="34" charset="0"/>
              </a:rPr>
              <a:t>g0/0 </a:t>
            </a:r>
            <a:r>
              <a:rPr lang="es-ES" sz="1400" dirty="0">
                <a:latin typeface="Arial" panose="020B0604020202020204" pitchFamily="34" charset="0"/>
                <a:cs typeface="Arial" panose="020B0604020202020204" pitchFamily="34" charset="0"/>
              </a:rPr>
              <a:t>y se le concatena la </a:t>
            </a:r>
            <a:r>
              <a:rPr lang="es-ES" sz="1400" b="1" dirty="0">
                <a:latin typeface="Arial" panose="020B0604020202020204" pitchFamily="34" charset="0"/>
                <a:cs typeface="Arial" panose="020B0604020202020204" pitchFamily="34" charset="0"/>
              </a:rPr>
              <a:t>subinteface </a:t>
            </a:r>
            <a:r>
              <a:rPr lang="es-ES" sz="1400" dirty="0">
                <a:latin typeface="Arial" panose="020B0604020202020204" pitchFamily="34" charset="0"/>
                <a:cs typeface="Arial" panose="020B0604020202020204" pitchFamily="34" charset="0"/>
              </a:rPr>
              <a:t>asociada con la </a:t>
            </a:r>
            <a:r>
              <a:rPr lang="es-ES" sz="1400" dirty="0" err="1">
                <a:latin typeface="Arial" panose="020B0604020202020204" pitchFamily="34" charset="0"/>
                <a:cs typeface="Arial" panose="020B0604020202020204" pitchFamily="34" charset="0"/>
              </a:rPr>
              <a:t>vlan</a:t>
            </a:r>
            <a:r>
              <a:rPr lang="es-E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" sz="1400" b="1" dirty="0">
                <a:latin typeface="Arial" panose="020B0604020202020204" pitchFamily="34" charset="0"/>
                <a:cs typeface="Arial" panose="020B0604020202020204" pitchFamily="34" charset="0"/>
              </a:rPr>
              <a:t>g0/0.10</a:t>
            </a:r>
            <a:endParaRPr lang="es-E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1400" dirty="0">
                <a:latin typeface="Arial" panose="020B0604020202020204" pitchFamily="34" charset="0"/>
                <a:cs typeface="Arial" panose="020B0604020202020204" pitchFamily="34" charset="0"/>
              </a:rPr>
              <a:t>El protocolo de encapsulamiento debe incluir el </a:t>
            </a:r>
            <a:r>
              <a:rPr lang="es-ES" sz="1400" b="1" dirty="0">
                <a:latin typeface="Arial" panose="020B0604020202020204" pitchFamily="34" charset="0"/>
                <a:cs typeface="Arial" panose="020B0604020202020204" pitchFamily="34" charset="0"/>
              </a:rPr>
              <a:t>id </a:t>
            </a:r>
            <a:r>
              <a:rPr lang="es-ES" sz="1400" dirty="0">
                <a:latin typeface="Arial" panose="020B0604020202020204" pitchFamily="34" charset="0"/>
                <a:cs typeface="Arial" panose="020B0604020202020204" pitchFamily="34" charset="0"/>
              </a:rPr>
              <a:t>de la</a:t>
            </a:r>
            <a:r>
              <a:rPr lang="es-ES" sz="1400" b="1" dirty="0">
                <a:latin typeface="Arial" panose="020B0604020202020204" pitchFamily="34" charset="0"/>
                <a:cs typeface="Arial" panose="020B0604020202020204" pitchFamily="34" charset="0"/>
              </a:rPr>
              <a:t> vlan</a:t>
            </a:r>
            <a:r>
              <a:rPr lang="es-ES" sz="14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es-MX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1400" dirty="0">
                <a:latin typeface="Arial" panose="020B0604020202020204" pitchFamily="34" charset="0"/>
                <a:cs typeface="Arial" panose="020B0604020202020204" pitchFamily="34" charset="0"/>
              </a:rPr>
              <a:t>La </a:t>
            </a:r>
            <a:r>
              <a:rPr lang="es-ES" sz="1400" b="1" dirty="0">
                <a:latin typeface="Arial" panose="020B0604020202020204" pitchFamily="34" charset="0"/>
                <a:cs typeface="Arial" panose="020B0604020202020204" pitchFamily="34" charset="0"/>
              </a:rPr>
              <a:t>dirección IP de la subinterface</a:t>
            </a:r>
            <a:r>
              <a:rPr lang="es-ES" sz="1400" dirty="0">
                <a:latin typeface="Arial" panose="020B0604020202020204" pitchFamily="34" charset="0"/>
                <a:cs typeface="Arial" panose="020B0604020202020204" pitchFamily="34" charset="0"/>
              </a:rPr>
              <a:t> va a ser la </a:t>
            </a:r>
            <a:r>
              <a:rPr lang="es-ES" sz="1400" b="1" dirty="0">
                <a:latin typeface="Arial" panose="020B0604020202020204" pitchFamily="34" charset="0"/>
                <a:cs typeface="Arial" panose="020B0604020202020204" pitchFamily="34" charset="0"/>
              </a:rPr>
              <a:t>última dirección IP válida</a:t>
            </a:r>
            <a:r>
              <a:rPr lang="es-ES" sz="1400" dirty="0">
                <a:latin typeface="Arial" panose="020B0604020202020204" pitchFamily="34" charset="0"/>
                <a:cs typeface="Arial" panose="020B0604020202020204" pitchFamily="34" charset="0"/>
              </a:rPr>
              <a:t> de la subred o bloque.</a:t>
            </a:r>
            <a:endParaRPr lang="es-MX" sz="1400" dirty="0">
              <a:solidFill>
                <a:schemeClr val="bg2">
                  <a:lumMod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36682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7 CuadroTexto">
            <a:extLst>
              <a:ext uri="{FF2B5EF4-FFF2-40B4-BE49-F238E27FC236}">
                <a16:creationId xmlns:a16="http://schemas.microsoft.com/office/drawing/2014/main" id="{134ED542-4C7D-4B50-8C07-A5B19B10A18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982264"/>
            <a:ext cx="10591800" cy="38574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>
              <a:lnSpc>
                <a:spcPct val="150000"/>
              </a:lnSpc>
              <a:spcAft>
                <a:spcPts val="600"/>
              </a:spcAft>
            </a:pPr>
            <a:r>
              <a:rPr lang="es-ES" sz="16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Comandos para el Router</a:t>
            </a:r>
          </a:p>
          <a:p>
            <a:pPr>
              <a:lnSpc>
                <a:spcPct val="150000"/>
              </a:lnSpc>
            </a:pPr>
            <a:r>
              <a:rPr lang="es-ES" sz="1600" dirty="0">
                <a:latin typeface="Arial" panose="020B0604020202020204" pitchFamily="34" charset="0"/>
                <a:cs typeface="Arial" panose="020B0604020202020204" pitchFamily="34" charset="0"/>
              </a:rPr>
              <a:t>! Sección para crear las subinterfaces asociadas a cada VLAN</a:t>
            </a:r>
          </a:p>
          <a:p>
            <a:pPr>
              <a:lnSpc>
                <a:spcPct val="150000"/>
              </a:lnSpc>
            </a:pPr>
            <a:r>
              <a:rPr lang="es-ES" sz="1600" b="1" dirty="0">
                <a:latin typeface="Arial" panose="020B0604020202020204" pitchFamily="34" charset="0"/>
                <a:cs typeface="Arial" panose="020B0604020202020204" pitchFamily="34" charset="0"/>
              </a:rPr>
              <a:t>int g0/0.VID</a:t>
            </a:r>
          </a:p>
          <a:p>
            <a:pPr>
              <a:lnSpc>
                <a:spcPct val="150000"/>
              </a:lnSpc>
            </a:pPr>
            <a:r>
              <a:rPr lang="es-ES" sz="1600" b="1" dirty="0">
                <a:latin typeface="Arial" panose="020B0604020202020204" pitchFamily="34" charset="0"/>
                <a:cs typeface="Arial" panose="020B0604020202020204" pitchFamily="34" charset="0"/>
              </a:rPr>
              <a:t>encapsulation  dot1q  VID</a:t>
            </a:r>
          </a:p>
          <a:p>
            <a:pPr>
              <a:lnSpc>
                <a:spcPct val="150000"/>
              </a:lnSpc>
            </a:pPr>
            <a:r>
              <a:rPr lang="es-ES" sz="1600" b="1" dirty="0">
                <a:latin typeface="Arial" panose="020B0604020202020204" pitchFamily="34" charset="0"/>
                <a:cs typeface="Arial" panose="020B0604020202020204" pitchFamily="34" charset="0"/>
              </a:rPr>
              <a:t>ip add  DirIP  Msk</a:t>
            </a:r>
          </a:p>
          <a:p>
            <a:pPr>
              <a:lnSpc>
                <a:spcPct val="150000"/>
              </a:lnSpc>
            </a:pPr>
            <a:endParaRPr lang="es-ES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s-ES" sz="1600" dirty="0">
                <a:latin typeface="Arial" panose="020B0604020202020204" pitchFamily="34" charset="0"/>
                <a:cs typeface="Arial" panose="020B0604020202020204" pitchFamily="34" charset="0"/>
              </a:rPr>
              <a:t>! Hay que levantar todas las subinterfaces (lógicas). Si levanto la interfaz física se levantan todas las subinterfaces.</a:t>
            </a:r>
          </a:p>
          <a:p>
            <a:pPr>
              <a:lnSpc>
                <a:spcPct val="150000"/>
              </a:lnSpc>
            </a:pPr>
            <a:r>
              <a:rPr lang="es-ES" sz="1600" b="1" dirty="0">
                <a:latin typeface="Arial" panose="020B0604020202020204" pitchFamily="34" charset="0"/>
                <a:cs typeface="Arial" panose="020B0604020202020204" pitchFamily="34" charset="0"/>
              </a:rPr>
              <a:t>int g0/0</a:t>
            </a:r>
          </a:p>
          <a:p>
            <a:pPr>
              <a:lnSpc>
                <a:spcPct val="150000"/>
              </a:lnSpc>
            </a:pPr>
            <a:r>
              <a:rPr lang="es-ES" sz="1600" b="1" dirty="0">
                <a:latin typeface="Arial" panose="020B0604020202020204" pitchFamily="34" charset="0"/>
                <a:cs typeface="Arial" panose="020B0604020202020204" pitchFamily="34" charset="0"/>
              </a:rPr>
              <a:t>no shut</a:t>
            </a:r>
          </a:p>
          <a:p>
            <a:pPr lvl="1">
              <a:lnSpc>
                <a:spcPct val="150000"/>
              </a:lnSpc>
              <a:buFont typeface="Courier New" panose="02070309020205020404" pitchFamily="49" charset="0"/>
              <a:buChar char="o"/>
            </a:pPr>
            <a:endParaRPr lang="es-MX" sz="1800" dirty="0">
              <a:solidFill>
                <a:schemeClr val="bg2">
                  <a:lumMod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object 2">
            <a:extLst>
              <a:ext uri="{FF2B5EF4-FFF2-40B4-BE49-F238E27FC236}">
                <a16:creationId xmlns:a16="http://schemas.microsoft.com/office/drawing/2014/main" id="{E6910A5E-3570-A45A-7F70-649DCA3C68F3}"/>
              </a:ext>
            </a:extLst>
          </p:cNvPr>
          <p:cNvSpPr txBox="1"/>
          <p:nvPr/>
        </p:nvSpPr>
        <p:spPr>
          <a:xfrm>
            <a:off x="3276600" y="160126"/>
            <a:ext cx="5164455" cy="80021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algn="ctr">
              <a:lnSpc>
                <a:spcPct val="100000"/>
              </a:lnSpc>
            </a:pPr>
            <a:r>
              <a:rPr lang="es-ES" sz="3200" b="1" spc="-25" dirty="0">
                <a:latin typeface="Calibri"/>
                <a:cs typeface="Calibri"/>
              </a:rPr>
              <a:t>Configuración de VLANs</a:t>
            </a:r>
          </a:p>
          <a:p>
            <a:pPr marL="12700" algn="ctr">
              <a:lnSpc>
                <a:spcPct val="100000"/>
              </a:lnSpc>
            </a:pPr>
            <a:r>
              <a:rPr lang="es-ES" sz="2000" spc="-25" dirty="0">
                <a:latin typeface="Calibri"/>
                <a:cs typeface="Calibri"/>
              </a:rPr>
              <a:t>Ruteador</a:t>
            </a:r>
            <a:endParaRPr sz="2000" dirty="0">
              <a:latin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521269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ED2598F-2E9F-C66F-7942-6CDBCFF584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8175" y="1945599"/>
            <a:ext cx="8581825" cy="4703719"/>
          </a:xfrm>
          <a:prstGeom prst="rect">
            <a:avLst/>
          </a:prstGeom>
        </p:spPr>
      </p:pic>
      <p:sp>
        <p:nvSpPr>
          <p:cNvPr id="2" name="object 2"/>
          <p:cNvSpPr txBox="1"/>
          <p:nvPr/>
        </p:nvSpPr>
        <p:spPr>
          <a:xfrm>
            <a:off x="2667000" y="152400"/>
            <a:ext cx="6400800" cy="80021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algn="ctr">
              <a:lnSpc>
                <a:spcPct val="100000"/>
              </a:lnSpc>
            </a:pPr>
            <a:r>
              <a:rPr lang="es-ES" sz="3200" b="1" spc="-25" dirty="0">
                <a:latin typeface="Calibri"/>
                <a:cs typeface="Calibri"/>
              </a:rPr>
              <a:t>Configuración del servicio de DHCP</a:t>
            </a:r>
          </a:p>
          <a:p>
            <a:pPr marL="12700" algn="ctr"/>
            <a:r>
              <a:rPr lang="es-ES" sz="2000" spc="-25" dirty="0">
                <a:cs typeface="Calibri"/>
              </a:rPr>
              <a:t>Ruteador</a:t>
            </a:r>
            <a:endParaRPr lang="es-ES" sz="3200" dirty="0">
              <a:latin typeface="Calibri"/>
              <a:cs typeface="Calibri"/>
            </a:endParaRPr>
          </a:p>
        </p:txBody>
      </p:sp>
      <p:sp>
        <p:nvSpPr>
          <p:cNvPr id="9" name="7 CuadroTexto">
            <a:extLst>
              <a:ext uri="{FF2B5EF4-FFF2-40B4-BE49-F238E27FC236}">
                <a16:creationId xmlns:a16="http://schemas.microsoft.com/office/drawing/2014/main" id="{134ED542-4C7D-4B50-8C07-A5B19B10A18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2000" y="990593"/>
            <a:ext cx="10820400" cy="15240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marL="342900" indent="-342900">
              <a:lnSpc>
                <a:spcPct val="150000"/>
              </a:lnSpc>
              <a:buAutoNum type="arabicPeriod"/>
            </a:pPr>
            <a:r>
              <a:rPr lang="es-ES_tradnl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Tenemos tres subredes asociadas con las </a:t>
            </a:r>
            <a:r>
              <a:rPr lang="es-ES_tradnl" sz="1600" b="1" dirty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VLANs 10, 20 y 30</a:t>
            </a:r>
            <a:r>
              <a:rPr lang="es-ES_tradnl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s-MX" sz="1600" spc="-5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Las tres </a:t>
            </a:r>
            <a:r>
              <a:rPr lang="es-MX" sz="1600" spc="-5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VLANs</a:t>
            </a:r>
            <a:r>
              <a:rPr lang="es-MX" sz="1600" spc="-5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es-MX" sz="1600" b="1" spc="-5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</a:t>
            </a:r>
            <a:r>
              <a:rPr lang="es-MX" sz="1600" b="1" spc="5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r>
              <a:rPr lang="es-MX" sz="1600" b="1" spc="-5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</a:t>
            </a:r>
            <a:r>
              <a:rPr lang="es-MX" sz="1600" b="1" spc="-25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</a:t>
            </a:r>
            <a:r>
              <a:rPr lang="es-MX" sz="1600" b="1" spc="-15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</a:t>
            </a:r>
            <a:r>
              <a:rPr lang="es-MX" sz="1600" b="1" spc="-21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rs</a:t>
            </a:r>
            <a:r>
              <a:rPr lang="es-MX" sz="1600" b="1" spc="-1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  <a:r>
              <a:rPr lang="es-MX" sz="1600" b="1" spc="-25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600" b="1" spc="-20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Us</a:t>
            </a:r>
            <a:r>
              <a:rPr lang="es-MX" sz="1600" b="1" spc="-15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</a:t>
            </a:r>
            <a:r>
              <a:rPr lang="es-MX" sz="1600" b="1" spc="-40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</a:t>
            </a:r>
            <a:r>
              <a:rPr lang="es-MX" sz="1600" b="1" spc="-5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</a:t>
            </a:r>
            <a:r>
              <a:rPr lang="es-MX" sz="1600" spc="-5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y</a:t>
            </a:r>
            <a:r>
              <a:rPr lang="es-MX" sz="1600" b="1" spc="-5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</a:t>
            </a:r>
            <a:r>
              <a:rPr lang="es-MX" sz="1600" b="1" spc="5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</a:t>
            </a:r>
            <a:r>
              <a:rPr lang="es-MX" sz="1600" b="1" spc="-1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vice</a:t>
            </a:r>
            <a:r>
              <a:rPr lang="es-MX" sz="1600" b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</a:t>
            </a:r>
            <a:r>
              <a:rPr lang="es-MX" sz="16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 </a:t>
            </a:r>
            <a:r>
              <a:rPr lang="es-MX" sz="1600" spc="-5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obtendrán di</a:t>
            </a:r>
            <a:r>
              <a:rPr lang="es-MX" sz="1600" spc="-35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</a:t>
            </a:r>
            <a:r>
              <a:rPr lang="es-MX" sz="1600" spc="-15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</a:t>
            </a:r>
            <a:r>
              <a:rPr lang="es-MX" sz="1600" spc="-1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</a:t>
            </a:r>
            <a:r>
              <a:rPr lang="es-MX" sz="16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ción</a:t>
            </a:r>
            <a:r>
              <a:rPr lang="es-MX" sz="1600" spc="-15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IP</a:t>
            </a:r>
            <a:r>
              <a:rPr lang="es-MX" sz="1600" spc="-1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600" spc="-5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dinámi</a:t>
            </a:r>
            <a:r>
              <a:rPr lang="es-MX" sz="1600" spc="-1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</a:t>
            </a:r>
            <a:r>
              <a:rPr lang="es-MX" sz="16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r>
              <a:rPr lang="es-MX" sz="1600" spc="-1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6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s-MX" sz="1600" b="1" spc="-5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DHCP</a:t>
            </a:r>
            <a:r>
              <a:rPr lang="es-MX" sz="16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s-ES_tradnl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Configurar primero las excepciones.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s-ES_tradnl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Configurar </a:t>
            </a:r>
            <a:r>
              <a:rPr lang="es-ES_tradnl" sz="1600" b="1" dirty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DHCP</a:t>
            </a:r>
            <a:r>
              <a:rPr lang="es-ES_tradnl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en </a:t>
            </a:r>
            <a:r>
              <a:rPr lang="es-ES_tradnl" sz="1600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RFrontera</a:t>
            </a:r>
            <a:r>
              <a:rPr lang="es-ES_tradnl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es-MX" sz="1600" dirty="0">
              <a:solidFill>
                <a:schemeClr val="tx1">
                  <a:lumMod val="95000"/>
                  <a:lumOff val="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95457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5" name="7 CuadroTexto"/>
          <p:cNvSpPr txBox="1">
            <a:spLocks noChangeArrowheads="1"/>
          </p:cNvSpPr>
          <p:nvPr/>
        </p:nvSpPr>
        <p:spPr bwMode="auto">
          <a:xfrm>
            <a:off x="1828800" y="1143000"/>
            <a:ext cx="8891160" cy="51136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marL="342900" indent="-342900">
              <a:lnSpc>
                <a:spcPct val="150000"/>
              </a:lnSpc>
              <a:buAutoNum type="arabicPeriod"/>
            </a:pPr>
            <a:r>
              <a:rPr lang="es-ES_tradnl" sz="20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Excluir las direcciones estáticas del pool de DHCP.</a:t>
            </a:r>
          </a:p>
          <a:p>
            <a:pPr lvl="1">
              <a:lnSpc>
                <a:spcPct val="150000"/>
              </a:lnSpc>
            </a:pPr>
            <a:r>
              <a:rPr lang="es-MX" sz="20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ip dhcp excluded-address </a:t>
            </a:r>
            <a:r>
              <a:rPr lang="es-MX" sz="20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Dir_IP_Inicial Dir_IP_Final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 startAt="2"/>
            </a:pPr>
            <a:r>
              <a:rPr lang="es-MX" sz="20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Crear y nombrar el pool de DHCP</a:t>
            </a:r>
          </a:p>
          <a:p>
            <a:pPr lvl="1">
              <a:lnSpc>
                <a:spcPct val="150000"/>
              </a:lnSpc>
            </a:pPr>
            <a:r>
              <a:rPr lang="es-MX" sz="2000" b="1" dirty="0" err="1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ip</a:t>
            </a:r>
            <a:r>
              <a:rPr lang="es-MX" sz="20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2000" b="1" dirty="0" err="1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dhcp</a:t>
            </a:r>
            <a:r>
              <a:rPr lang="es-MX" sz="20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pool</a:t>
            </a:r>
            <a:r>
              <a:rPr lang="es-MX" sz="2000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2000" b="1" dirty="0" err="1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NombrePool</a:t>
            </a:r>
            <a:endParaRPr lang="es-MX" sz="2000" b="1" dirty="0">
              <a:solidFill>
                <a:schemeClr val="bg2">
                  <a:lumMod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 startAt="2"/>
            </a:pPr>
            <a:r>
              <a:rPr lang="es-MX" sz="20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Definir un </a:t>
            </a:r>
            <a:r>
              <a:rPr lang="es-MX" sz="20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pool de direcciones dinámicas </a:t>
            </a:r>
            <a:r>
              <a:rPr lang="es-MX" sz="20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 serán asignadas cuando sean solicitadas. Definir la red y máscara que utilizará el pool</a:t>
            </a:r>
          </a:p>
          <a:p>
            <a:pPr lvl="1">
              <a:lnSpc>
                <a:spcPct val="150000"/>
              </a:lnSpc>
            </a:pPr>
            <a:r>
              <a:rPr lang="es-MX" sz="2000" b="1" dirty="0" err="1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network</a:t>
            </a:r>
            <a:r>
              <a:rPr lang="es-MX" sz="20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20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Dirección de red Máscara de subred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 startAt="2"/>
            </a:pPr>
            <a:r>
              <a:rPr lang="es-MX" sz="20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Establecer la  puerta de enlace predeterminada (Default Gateway):</a:t>
            </a:r>
          </a:p>
          <a:p>
            <a:pPr lvl="1">
              <a:lnSpc>
                <a:spcPct val="150000"/>
              </a:lnSpc>
            </a:pPr>
            <a:r>
              <a:rPr lang="es-MX" sz="20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default-</a:t>
            </a:r>
            <a:r>
              <a:rPr lang="es-MX" sz="2000" b="1" dirty="0" err="1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router</a:t>
            </a:r>
            <a:r>
              <a:rPr lang="es-MX" sz="2000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2000" dirty="0" err="1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dirIP</a:t>
            </a:r>
            <a:endParaRPr lang="es-MX" sz="2000" dirty="0">
              <a:solidFill>
                <a:schemeClr val="bg2">
                  <a:lumMod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 startAt="2"/>
            </a:pPr>
            <a:r>
              <a:rPr lang="es-MX" sz="20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Establecer el servidor DNS</a:t>
            </a:r>
          </a:p>
          <a:p>
            <a:pPr lvl="1">
              <a:lnSpc>
                <a:spcPct val="150000"/>
              </a:lnSpc>
            </a:pPr>
            <a:r>
              <a:rPr lang="es-MX" sz="2000" b="1" dirty="0" err="1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dns</a:t>
            </a:r>
            <a:r>
              <a:rPr lang="es-MX" sz="20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-server </a:t>
            </a:r>
            <a:r>
              <a:rPr lang="es-MX" sz="2000" dirty="0" err="1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dirIP</a:t>
            </a:r>
            <a:r>
              <a:rPr lang="es-MX" sz="20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-Server</a:t>
            </a:r>
            <a:endParaRPr lang="es-MX" sz="1600" dirty="0">
              <a:solidFill>
                <a:schemeClr val="bg2">
                  <a:lumMod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object 2">
            <a:extLst>
              <a:ext uri="{FF2B5EF4-FFF2-40B4-BE49-F238E27FC236}">
                <a16:creationId xmlns:a16="http://schemas.microsoft.com/office/drawing/2014/main" id="{697F0DA7-62A2-2E36-5957-87FC0F1D339A}"/>
              </a:ext>
            </a:extLst>
          </p:cNvPr>
          <p:cNvSpPr txBox="1"/>
          <p:nvPr/>
        </p:nvSpPr>
        <p:spPr>
          <a:xfrm>
            <a:off x="2667000" y="266581"/>
            <a:ext cx="6400800" cy="80021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algn="ctr">
              <a:lnSpc>
                <a:spcPct val="100000"/>
              </a:lnSpc>
            </a:pPr>
            <a:r>
              <a:rPr lang="es-ES" sz="3200" b="1" spc="-25" dirty="0">
                <a:latin typeface="Calibri"/>
                <a:cs typeface="Calibri"/>
              </a:rPr>
              <a:t>Configuración del servicio de DHCP</a:t>
            </a:r>
          </a:p>
          <a:p>
            <a:pPr marL="12700" algn="ctr"/>
            <a:r>
              <a:rPr lang="es-ES" sz="2000" spc="-25" dirty="0">
                <a:cs typeface="Calibri"/>
              </a:rPr>
              <a:t>Ruteador</a:t>
            </a:r>
            <a:endParaRPr lang="es-ES" sz="3200" dirty="0">
              <a:latin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2200968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845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C395C3-D786-CC17-9D8D-75C6030825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E1CF1378-0554-A4A7-589F-EEF3CC7C54F4}"/>
              </a:ext>
            </a:extLst>
          </p:cNvPr>
          <p:cNvSpPr txBox="1"/>
          <p:nvPr/>
        </p:nvSpPr>
        <p:spPr>
          <a:xfrm>
            <a:off x="914400" y="1031788"/>
            <a:ext cx="11201400" cy="416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s-ES_tradnl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Configurar la IP, máscara de subred, default-</a:t>
            </a:r>
            <a:r>
              <a:rPr lang="es-ES_tradnl" sz="1600" dirty="0" err="1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gateway</a:t>
            </a:r>
            <a:r>
              <a:rPr lang="es-ES_tradnl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s-ES_tradnl" sz="1600" dirty="0" err="1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dns</a:t>
            </a:r>
            <a:r>
              <a:rPr lang="es-ES_tradnl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server del servidor </a:t>
            </a:r>
            <a:r>
              <a:rPr lang="es-ES_tradnl" sz="16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pisos.com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5B68192-12F1-9C84-F7F1-D2666B3654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4500" y="1676400"/>
            <a:ext cx="8763000" cy="4803021"/>
          </a:xfrm>
          <a:prstGeom prst="rect">
            <a:avLst/>
          </a:prstGeom>
        </p:spPr>
      </p:pic>
      <p:sp>
        <p:nvSpPr>
          <p:cNvPr id="2" name="Rectangle 2">
            <a:extLst>
              <a:ext uri="{FF2B5EF4-FFF2-40B4-BE49-F238E27FC236}">
                <a16:creationId xmlns:a16="http://schemas.microsoft.com/office/drawing/2014/main" id="{1CC17F25-AD52-5B43-1BC2-1A2752940F32}"/>
              </a:ext>
            </a:extLst>
          </p:cNvPr>
          <p:cNvSpPr txBox="1">
            <a:spLocks noChangeArrowheads="1"/>
          </p:cNvSpPr>
          <p:nvPr/>
        </p:nvSpPr>
        <p:spPr>
          <a:xfrm>
            <a:off x="1447800" y="0"/>
            <a:ext cx="8892480" cy="1143000"/>
          </a:xfrm>
          <a:prstGeom prst="rect">
            <a:avLst/>
          </a:prstGeom>
        </p:spPr>
        <p:txBody>
          <a:bodyPr vert="horz" lIns="92075" tIns="46038" rIns="92075" bIns="46038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s-ES_tradnl" sz="3200" dirty="0">
                <a:solidFill>
                  <a:srgbClr val="3333CC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 </a:t>
            </a:r>
            <a:r>
              <a:rPr lang="es-ES_tradnl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Configuración de servidor</a:t>
            </a:r>
          </a:p>
          <a:p>
            <a:pPr>
              <a:defRPr/>
            </a:pPr>
            <a:r>
              <a:rPr lang="es-ES_tradnl" sz="2000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+mn-lt"/>
              </a:rPr>
              <a:t>pisos.com</a:t>
            </a:r>
          </a:p>
        </p:txBody>
      </p:sp>
    </p:spTree>
    <p:extLst>
      <p:ext uri="{BB962C8B-B14F-4D97-AF65-F5344CB8AC3E}">
        <p14:creationId xmlns:p14="http://schemas.microsoft.com/office/powerpoint/2010/main" val="13701105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2"/>
          <p:cNvSpPr txBox="1">
            <a:spLocks noChangeArrowheads="1"/>
          </p:cNvSpPr>
          <p:nvPr/>
        </p:nvSpPr>
        <p:spPr>
          <a:xfrm>
            <a:off x="1447800" y="0"/>
            <a:ext cx="8892480" cy="1143000"/>
          </a:xfrm>
          <a:prstGeom prst="rect">
            <a:avLst/>
          </a:prstGeom>
        </p:spPr>
        <p:txBody>
          <a:bodyPr vert="horz" lIns="92075" tIns="46038" rIns="92075" bIns="46038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s-ES_tradnl" sz="3200" dirty="0">
                <a:solidFill>
                  <a:srgbClr val="3333CC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 </a:t>
            </a:r>
            <a:r>
              <a:rPr lang="es-ES_tradnl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Configuración de rutas estáticas</a:t>
            </a:r>
          </a:p>
          <a:p>
            <a:pPr>
              <a:defRPr/>
            </a:pPr>
            <a:r>
              <a:rPr lang="es-ES_tradnl" sz="2000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+mn-lt"/>
              </a:rPr>
              <a:t>Ruteador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9D99F20F-671A-41D1-8D5A-1D575E79056A}"/>
              </a:ext>
            </a:extLst>
          </p:cNvPr>
          <p:cNvSpPr txBox="1"/>
          <p:nvPr/>
        </p:nvSpPr>
        <p:spPr>
          <a:xfrm>
            <a:off x="914400" y="1031788"/>
            <a:ext cx="11201400" cy="416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s-ES_tradnl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Configurar en el </a:t>
            </a:r>
            <a:r>
              <a:rPr lang="es-ES_tradnl" sz="16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ISP</a:t>
            </a:r>
            <a:r>
              <a:rPr lang="es-ES_tradnl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las </a:t>
            </a:r>
            <a:r>
              <a:rPr lang="es-ES_tradnl" sz="16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rutas estáticas </a:t>
            </a:r>
            <a:r>
              <a:rPr lang="es-ES_tradnl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necesarias para conectar el tráfico de Internet con la red local.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AA96BDF-BEC4-B967-BA12-D6F39DAA73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4500" y="1752600"/>
            <a:ext cx="8763000" cy="4803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58710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E906EA-3FD8-BC6B-B44F-690A2D321D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EB58639-DB54-9659-41BB-030B00EE2F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1300" y="2569505"/>
            <a:ext cx="7239000" cy="3967714"/>
          </a:xfrm>
          <a:prstGeom prst="rect">
            <a:avLst/>
          </a:prstGeom>
        </p:spPr>
      </p:pic>
      <p:sp>
        <p:nvSpPr>
          <p:cNvPr id="8" name="Rectangle 2">
            <a:extLst>
              <a:ext uri="{FF2B5EF4-FFF2-40B4-BE49-F238E27FC236}">
                <a16:creationId xmlns:a16="http://schemas.microsoft.com/office/drawing/2014/main" id="{0D0D8C4C-BA8C-E03A-58F2-74217EE3D989}"/>
              </a:ext>
            </a:extLst>
          </p:cNvPr>
          <p:cNvSpPr txBox="1">
            <a:spLocks noChangeArrowheads="1"/>
          </p:cNvSpPr>
          <p:nvPr/>
        </p:nvSpPr>
        <p:spPr>
          <a:xfrm>
            <a:off x="1447800" y="76200"/>
            <a:ext cx="8892480" cy="1143000"/>
          </a:xfrm>
          <a:prstGeom prst="rect">
            <a:avLst/>
          </a:prstGeom>
        </p:spPr>
        <p:txBody>
          <a:bodyPr vert="horz" lIns="92075" tIns="46038" rIns="92075" bIns="46038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s-ES_tradnl" sz="3200" dirty="0">
                <a:solidFill>
                  <a:srgbClr val="3333CC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 </a:t>
            </a:r>
            <a:r>
              <a:rPr lang="es-ES_tradnl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Configuración de rutas por default</a:t>
            </a:r>
          </a:p>
          <a:p>
            <a:pPr>
              <a:defRPr/>
            </a:pPr>
            <a:r>
              <a:rPr lang="es-ES_tradnl" sz="2000" dirty="0">
                <a:solidFill>
                  <a:schemeClr val="accent4">
                    <a:lumMod val="50000"/>
                  </a:schemeClr>
                </a:solidFill>
                <a:latin typeface="+mn-lt"/>
              </a:rPr>
              <a:t>Ruteador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032C4F6B-00BD-7F4E-783C-06A5B2767BB9}"/>
              </a:ext>
            </a:extLst>
          </p:cNvPr>
          <p:cNvSpPr txBox="1"/>
          <p:nvPr/>
        </p:nvSpPr>
        <p:spPr>
          <a:xfrm>
            <a:off x="800100" y="1184189"/>
            <a:ext cx="11201400" cy="416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Bef>
                <a:spcPts val="600"/>
              </a:spcBef>
            </a:pPr>
            <a:r>
              <a:rPr lang="es-ES" sz="1600" dirty="0"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</a:t>
            </a:r>
            <a:r>
              <a:rPr lang="es-ES" sz="1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stablecer </a:t>
            </a:r>
            <a:r>
              <a:rPr lang="es-ES" sz="1600" dirty="0"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en </a:t>
            </a:r>
            <a:r>
              <a:rPr lang="es-ES" sz="1600" b="1" dirty="0" err="1"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RFrontera</a:t>
            </a:r>
            <a:r>
              <a:rPr lang="es-ES" sz="1600" dirty="0"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s-ES" sz="1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una</a:t>
            </a:r>
            <a:r>
              <a:rPr lang="es-ES" sz="1600" b="1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ruta por default </a:t>
            </a:r>
            <a:r>
              <a:rPr lang="es-ES" sz="1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que se encargue de sacar el tráfico a </a:t>
            </a:r>
            <a:r>
              <a:rPr lang="es-ES" sz="1600" b="1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Internet.</a:t>
            </a:r>
            <a:r>
              <a:rPr lang="es-ES" sz="1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endParaRPr lang="es-ES_tradnl" sz="1600" dirty="0">
              <a:solidFill>
                <a:schemeClr val="bg2">
                  <a:lumMod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6FFC4F27-20F4-8E05-4A4B-2A40BDE95186}"/>
              </a:ext>
            </a:extLst>
          </p:cNvPr>
          <p:cNvSpPr txBox="1"/>
          <p:nvPr/>
        </p:nvSpPr>
        <p:spPr>
          <a:xfrm>
            <a:off x="831476" y="1597356"/>
            <a:ext cx="10744200" cy="7756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lnSpc>
                <a:spcPct val="150000"/>
              </a:lnSpc>
              <a:spcAft>
                <a:spcPts val="600"/>
              </a:spcAft>
              <a:buFont typeface="Symbol" panose="05050102010706020507" pitchFamily="18" charset="2"/>
              <a:buChar char=""/>
            </a:pPr>
            <a:r>
              <a:rPr lang="es-ES" sz="14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Cuando definimos </a:t>
            </a:r>
            <a:r>
              <a:rPr lang="es-ES" sz="1400" u="sng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nuestra interface de salida (s0/0/1)</a:t>
            </a:r>
            <a:r>
              <a:rPr lang="es-ES" sz="14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tenemos una</a:t>
            </a:r>
            <a:r>
              <a:rPr lang="es-ES" sz="1400" b="1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s-ES" sz="1400" b="1" dirty="0">
                <a:solidFill>
                  <a:srgbClr val="FF0000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ruta por default directamente conectada</a:t>
            </a:r>
            <a:endParaRPr lang="es-MX" sz="1400" dirty="0">
              <a:solidFill>
                <a:srgbClr val="FF0000"/>
              </a:solidFill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lvl="0" indent="-342900">
              <a:lnSpc>
                <a:spcPct val="150000"/>
              </a:lnSpc>
              <a:spcAft>
                <a:spcPts val="600"/>
              </a:spcAft>
              <a:buFont typeface="Symbol" panose="05050102010706020507" pitchFamily="18" charset="2"/>
              <a:buChar char=""/>
            </a:pPr>
            <a:r>
              <a:rPr lang="es-ES" sz="14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Si utilizamos la </a:t>
            </a:r>
            <a:r>
              <a:rPr lang="es-ES" sz="1400" u="sng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dirección IP del siguiente router</a:t>
            </a:r>
            <a:r>
              <a:rPr lang="es-ES" sz="14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, tenemos una </a:t>
            </a:r>
            <a:r>
              <a:rPr lang="es-ES" sz="1400" b="1" dirty="0">
                <a:solidFill>
                  <a:srgbClr val="FF0000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ruta por default recursiva. </a:t>
            </a:r>
            <a:endParaRPr lang="es-ES_tradnl" sz="1400" dirty="0">
              <a:solidFill>
                <a:schemeClr val="bg2">
                  <a:lumMod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727643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7 CuadroTexto">
            <a:extLst>
              <a:ext uri="{FF2B5EF4-FFF2-40B4-BE49-F238E27FC236}">
                <a16:creationId xmlns:a16="http://schemas.microsoft.com/office/drawing/2014/main" id="{134ED542-4C7D-4B50-8C07-A5B19B10A18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3400" y="1154668"/>
            <a:ext cx="9448800" cy="16778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>
              <a:lnSpc>
                <a:spcPct val="150000"/>
              </a:lnSpc>
              <a:spcAft>
                <a:spcPts val="1200"/>
              </a:spcAft>
            </a:pPr>
            <a:r>
              <a:rPr lang="es-ES" sz="1600" dirty="0">
                <a:latin typeface="Arial" panose="020B0604020202020204" pitchFamily="34" charset="0"/>
                <a:cs typeface="Arial" panose="020B0604020202020204" pitchFamily="34" charset="0"/>
              </a:rPr>
              <a:t>Pasos para configurar las </a:t>
            </a:r>
            <a:r>
              <a:rPr lang="es-ES" sz="1600" b="1" dirty="0">
                <a:latin typeface="Arial" panose="020B0604020202020204" pitchFamily="34" charset="0"/>
                <a:cs typeface="Arial" panose="020B0604020202020204" pitchFamily="34" charset="0"/>
              </a:rPr>
              <a:t>VLANs </a:t>
            </a:r>
            <a:r>
              <a:rPr lang="es-ES" sz="1600" dirty="0">
                <a:latin typeface="Arial" panose="020B0604020202020204" pitchFamily="34" charset="0"/>
                <a:cs typeface="Arial" panose="020B0604020202020204" pitchFamily="34" charset="0"/>
              </a:rPr>
              <a:t>en el </a:t>
            </a:r>
            <a:r>
              <a:rPr lang="es-ES" sz="1600" b="1" dirty="0">
                <a:latin typeface="Arial" panose="020B0604020202020204" pitchFamily="34" charset="0"/>
                <a:cs typeface="Arial" panose="020B0604020202020204" pitchFamily="34" charset="0"/>
              </a:rPr>
              <a:t>switch</a:t>
            </a:r>
            <a:r>
              <a:rPr lang="es-ES" sz="160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s-ES" sz="1600" dirty="0">
                <a:latin typeface="Arial" panose="020B0604020202020204" pitchFamily="34" charset="0"/>
                <a:cs typeface="Arial" panose="020B0604020202020204" pitchFamily="34" charset="0"/>
              </a:rPr>
              <a:t>Crear la </a:t>
            </a:r>
            <a:r>
              <a:rPr lang="es-ES" sz="1600" b="1" dirty="0">
                <a:latin typeface="Arial" panose="020B0604020202020204" pitchFamily="34" charset="0"/>
                <a:cs typeface="Arial" panose="020B0604020202020204" pitchFamily="34" charset="0"/>
              </a:rPr>
              <a:t>base de datos </a:t>
            </a:r>
            <a:r>
              <a:rPr lang="es-ES" sz="1600" dirty="0">
                <a:latin typeface="Arial" panose="020B0604020202020204" pitchFamily="34" charset="0"/>
                <a:cs typeface="Arial" panose="020B0604020202020204" pitchFamily="34" charset="0"/>
              </a:rPr>
              <a:t>de las </a:t>
            </a:r>
            <a:r>
              <a:rPr lang="es-ES" sz="1600" b="1" dirty="0">
                <a:latin typeface="Arial" panose="020B0604020202020204" pitchFamily="34" charset="0"/>
                <a:cs typeface="Arial" panose="020B0604020202020204" pitchFamily="34" charset="0"/>
              </a:rPr>
              <a:t>VLANs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s-ES" sz="1600" dirty="0">
                <a:latin typeface="Arial" panose="020B0604020202020204" pitchFamily="34" charset="0"/>
                <a:cs typeface="Arial" panose="020B0604020202020204" pitchFamily="34" charset="0"/>
              </a:rPr>
              <a:t>Asignar los </a:t>
            </a:r>
            <a:r>
              <a:rPr lang="es-ES" sz="1600" b="1" dirty="0">
                <a:latin typeface="Arial" panose="020B0604020202020204" pitchFamily="34" charset="0"/>
                <a:cs typeface="Arial" panose="020B0604020202020204" pitchFamily="34" charset="0"/>
              </a:rPr>
              <a:t>puertos de acceso </a:t>
            </a:r>
            <a:r>
              <a:rPr lang="es-ES" sz="1600" dirty="0">
                <a:latin typeface="Arial" panose="020B0604020202020204" pitchFamily="34" charset="0"/>
                <a:cs typeface="Arial" panose="020B0604020202020204" pitchFamily="34" charset="0"/>
              </a:rPr>
              <a:t>del switch a la VLAN correspondiente. 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s-ES" sz="1600" dirty="0">
                <a:latin typeface="Arial" panose="020B0604020202020204" pitchFamily="34" charset="0"/>
                <a:cs typeface="Arial" panose="020B0604020202020204" pitchFamily="34" charset="0"/>
              </a:rPr>
              <a:t>Definir el </a:t>
            </a:r>
            <a:r>
              <a:rPr lang="es-ES" sz="1600" b="1" dirty="0">
                <a:latin typeface="Arial" panose="020B0604020202020204" pitchFamily="34" charset="0"/>
                <a:cs typeface="Arial" panose="020B0604020202020204" pitchFamily="34" charset="0"/>
              </a:rPr>
              <a:t>puerto troncal</a:t>
            </a:r>
            <a:r>
              <a:rPr lang="es-ES" sz="1600" dirty="0">
                <a:latin typeface="Arial" panose="020B0604020202020204" pitchFamily="34" charset="0"/>
                <a:cs typeface="Arial" panose="020B0604020202020204" pitchFamily="34" charset="0"/>
              </a:rPr>
              <a:t> (puerto por el que va a salir el tráfico de las distintas VLANs). </a:t>
            </a:r>
            <a:endParaRPr lang="es-MX" sz="1800" dirty="0">
              <a:solidFill>
                <a:schemeClr val="bg2">
                  <a:lumMod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8B4E578D-7BAF-4681-BF75-AC5FE3AD8971}"/>
              </a:ext>
            </a:extLst>
          </p:cNvPr>
          <p:cNvSpPr txBox="1"/>
          <p:nvPr/>
        </p:nvSpPr>
        <p:spPr>
          <a:xfrm>
            <a:off x="834271" y="2923903"/>
            <a:ext cx="8382000" cy="416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600"/>
              </a:spcAft>
            </a:pPr>
            <a:r>
              <a:rPr lang="es-ES" sz="1600" dirty="0">
                <a:latin typeface="Arial" panose="020B0604020202020204" pitchFamily="34" charset="0"/>
                <a:cs typeface="Arial" panose="020B0604020202020204" pitchFamily="34" charset="0"/>
              </a:rPr>
              <a:t>Las subredes y los puertos del switch han sido divididos de la siguiente forma:</a:t>
            </a:r>
            <a:endParaRPr lang="es-ES" sz="1600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74967D43-4562-4C9A-BFA7-1485C888EFE6}"/>
              </a:ext>
            </a:extLst>
          </p:cNvPr>
          <p:cNvSpPr txBox="1"/>
          <p:nvPr/>
        </p:nvSpPr>
        <p:spPr>
          <a:xfrm>
            <a:off x="829558" y="5703332"/>
            <a:ext cx="61274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800" b="1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vlan 1 </a:t>
            </a:r>
            <a:r>
              <a:rPr lang="es-ES" sz="18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que es la</a:t>
            </a:r>
            <a:r>
              <a:rPr lang="es-ES" sz="1800" b="1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 nativa</a:t>
            </a:r>
            <a:r>
              <a:rPr lang="es-ES" sz="18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, está creada siempre por default.</a:t>
            </a:r>
            <a:r>
              <a:rPr lang="es-ES" sz="1800" b="1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 </a:t>
            </a:r>
            <a:endParaRPr lang="es-MX" dirty="0"/>
          </a:p>
        </p:txBody>
      </p:sp>
      <p:graphicFrame>
        <p:nvGraphicFramePr>
          <p:cNvPr id="5" name="Tabla 4">
            <a:extLst>
              <a:ext uri="{FF2B5EF4-FFF2-40B4-BE49-F238E27FC236}">
                <a16:creationId xmlns:a16="http://schemas.microsoft.com/office/drawing/2014/main" id="{D5DA73BA-9C18-4089-BD14-C3684A90530F}"/>
              </a:ext>
            </a:extLst>
          </p:cNvPr>
          <p:cNvGraphicFramePr>
            <a:graphicFrameLocks noGrp="1"/>
          </p:cNvGraphicFramePr>
          <p:nvPr/>
        </p:nvGraphicFramePr>
        <p:xfrm>
          <a:off x="952499" y="3630221"/>
          <a:ext cx="8610601" cy="1822766"/>
        </p:xfrm>
        <a:graphic>
          <a:graphicData uri="http://schemas.openxmlformats.org/drawingml/2006/table">
            <a:tbl>
              <a:tblPr firstRow="1" firstCol="1" lastRow="1" lastCol="1" bandRow="1" bandCol="1">
                <a:tableStyleId>{5C22544A-7EE6-4342-B048-85BDC9FD1C3A}</a:tableStyleId>
              </a:tblPr>
              <a:tblGrid>
                <a:gridCol w="1477293">
                  <a:extLst>
                    <a:ext uri="{9D8B030D-6E8A-4147-A177-3AD203B41FA5}">
                      <a16:colId xmlns:a16="http://schemas.microsoft.com/office/drawing/2014/main" val="3615906484"/>
                    </a:ext>
                  </a:extLst>
                </a:gridCol>
                <a:gridCol w="885544">
                  <a:extLst>
                    <a:ext uri="{9D8B030D-6E8A-4147-A177-3AD203B41FA5}">
                      <a16:colId xmlns:a16="http://schemas.microsoft.com/office/drawing/2014/main" val="56571631"/>
                    </a:ext>
                  </a:extLst>
                </a:gridCol>
                <a:gridCol w="1790064">
                  <a:extLst>
                    <a:ext uri="{9D8B030D-6E8A-4147-A177-3AD203B41FA5}">
                      <a16:colId xmlns:a16="http://schemas.microsoft.com/office/drawing/2014/main" val="1977572645"/>
                    </a:ext>
                  </a:extLst>
                </a:gridCol>
                <a:gridCol w="2125237">
                  <a:extLst>
                    <a:ext uri="{9D8B030D-6E8A-4147-A177-3AD203B41FA5}">
                      <a16:colId xmlns:a16="http://schemas.microsoft.com/office/drawing/2014/main" val="912248757"/>
                    </a:ext>
                  </a:extLst>
                </a:gridCol>
                <a:gridCol w="2332463">
                  <a:extLst>
                    <a:ext uri="{9D8B030D-6E8A-4147-A177-3AD203B41FA5}">
                      <a16:colId xmlns:a16="http://schemas.microsoft.com/office/drawing/2014/main" val="445826148"/>
                    </a:ext>
                  </a:extLst>
                </a:gridCol>
              </a:tblGrid>
              <a:tr h="369886">
                <a:tc>
                  <a:txBody>
                    <a:bodyPr/>
                    <a:lstStyle/>
                    <a:p>
                      <a:pPr marL="1905" algn="ctr">
                        <a:lnSpc>
                          <a:spcPts val="1800"/>
                        </a:lnSpc>
                      </a:pPr>
                      <a:r>
                        <a:rPr lang="es-MX" sz="1400" spc="-5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Segmento</a:t>
                      </a:r>
                      <a:endParaRPr lang="es-MX" sz="14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s-MX" sz="14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VLAN</a:t>
                      </a:r>
                      <a:endParaRPr lang="es-MX" sz="14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s-MX" sz="1400" spc="-5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Puertos</a:t>
                      </a:r>
                      <a:r>
                        <a:rPr lang="es-MX" sz="1400" spc="12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s-MX" sz="1400" spc="-5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asignados</a:t>
                      </a:r>
                      <a:endParaRPr lang="es-MX" sz="14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  <a:spcAft>
                          <a:spcPts val="0"/>
                        </a:spcAft>
                      </a:pPr>
                      <a:r>
                        <a:rPr lang="es-MX" sz="1400" spc="-5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Dirección de subred</a:t>
                      </a:r>
                      <a:endParaRPr lang="es-MX" sz="14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s-MX" sz="1400" spc="-5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Máscara</a:t>
                      </a:r>
                      <a:r>
                        <a:rPr lang="es-MX" sz="14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de</a:t>
                      </a:r>
                      <a:r>
                        <a:rPr lang="es-MX" sz="1400" spc="11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s-MX" sz="1400" spc="-5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subred</a:t>
                      </a:r>
                      <a:endParaRPr lang="es-MX" sz="14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39771022"/>
                  </a:ext>
                </a:extLst>
              </a:tr>
              <a:tr h="361315">
                <a:tc>
                  <a:txBody>
                    <a:bodyPr/>
                    <a:lstStyle/>
                    <a:p>
                      <a:pPr marL="5080" algn="ctr">
                        <a:lnSpc>
                          <a:spcPts val="1800"/>
                        </a:lnSpc>
                      </a:pPr>
                      <a:r>
                        <a:rPr lang="es-MX" sz="1400" b="1" spc="-5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Management</a:t>
                      </a:r>
                      <a:endParaRPr lang="es-MX" sz="1400" b="1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810" algn="ctr">
                        <a:lnSpc>
                          <a:spcPts val="1800"/>
                        </a:lnSpc>
                      </a:pPr>
                      <a:r>
                        <a:rPr lang="es-MX" sz="1400" b="0" spc="-5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</a:t>
                      </a:r>
                      <a:endParaRPr lang="es-MX" sz="1400" b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5080" algn="ctr">
                        <a:lnSpc>
                          <a:spcPts val="1800"/>
                        </a:lnSpc>
                      </a:pPr>
                      <a:r>
                        <a:rPr lang="es-MX" sz="1400" b="0" spc="-5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F0/1-6</a:t>
                      </a:r>
                      <a:endParaRPr lang="es-MX" sz="1400" b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810" algn="ctr">
                        <a:lnSpc>
                          <a:spcPts val="1800"/>
                        </a:lnSpc>
                      </a:pPr>
                      <a:r>
                        <a:rPr lang="es-MX" sz="1400" b="0" spc="-5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193.168.1.128</a:t>
                      </a:r>
                      <a:endParaRPr lang="es-MX" sz="1400" b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5080" algn="ctr">
                        <a:lnSpc>
                          <a:spcPts val="1800"/>
                        </a:lnSpc>
                      </a:pPr>
                      <a:r>
                        <a:rPr lang="es-MX" sz="1400" b="0" spc="-5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255.255.255.240</a:t>
                      </a:r>
                      <a:endParaRPr lang="es-MX" sz="1400" b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5077248"/>
                  </a:ext>
                </a:extLst>
              </a:tr>
              <a:tr h="363855">
                <a:tc>
                  <a:txBody>
                    <a:bodyPr/>
                    <a:lstStyle/>
                    <a:p>
                      <a:pPr marL="5080" algn="ctr">
                        <a:lnSpc>
                          <a:spcPts val="1800"/>
                        </a:lnSpc>
                      </a:pPr>
                      <a:r>
                        <a:rPr lang="es-MX" sz="1400" b="1" spc="-5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Users</a:t>
                      </a:r>
                      <a:endParaRPr lang="es-MX" sz="1400" b="1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810" algn="ctr">
                        <a:lnSpc>
                          <a:spcPts val="1800"/>
                        </a:lnSpc>
                      </a:pPr>
                      <a:r>
                        <a:rPr lang="es-MX" sz="1400" b="0" spc="-5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</a:t>
                      </a:r>
                      <a:endParaRPr lang="es-MX" sz="1400" b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5080" algn="ctr">
                        <a:lnSpc>
                          <a:spcPts val="1800"/>
                        </a:lnSpc>
                      </a:pPr>
                      <a:r>
                        <a:rPr lang="es-MX" sz="1400" b="0" spc="-5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F0/7-19</a:t>
                      </a:r>
                      <a:endParaRPr lang="es-MX" sz="1400" b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810" algn="ctr">
                        <a:lnSpc>
                          <a:spcPts val="1800"/>
                        </a:lnSpc>
                      </a:pPr>
                      <a:r>
                        <a:rPr lang="es-MX" sz="1400" b="0" spc="-5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193.168.1.0</a:t>
                      </a:r>
                      <a:endParaRPr lang="es-MX" sz="1400" b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5080" algn="ctr">
                        <a:lnSpc>
                          <a:spcPts val="1800"/>
                        </a:lnSpc>
                      </a:pPr>
                      <a:r>
                        <a:rPr lang="es-MX" sz="1400" b="0" spc="-5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255.255.255.128</a:t>
                      </a:r>
                      <a:endParaRPr lang="es-MX" sz="1400" b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3312521"/>
                  </a:ext>
                </a:extLst>
              </a:tr>
              <a:tr h="363855">
                <a:tc>
                  <a:txBody>
                    <a:bodyPr/>
                    <a:lstStyle/>
                    <a:p>
                      <a:pPr marL="5080" algn="ctr">
                        <a:lnSpc>
                          <a:spcPts val="1800"/>
                        </a:lnSpc>
                      </a:pPr>
                      <a:r>
                        <a:rPr lang="es-MX" sz="1400" b="1" spc="-5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Services</a:t>
                      </a:r>
                      <a:endParaRPr lang="es-MX" sz="1400" b="1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810" algn="ctr">
                        <a:lnSpc>
                          <a:spcPts val="1800"/>
                        </a:lnSpc>
                      </a:pPr>
                      <a:r>
                        <a:rPr lang="es-MX" sz="1400" b="0" spc="-5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30</a:t>
                      </a:r>
                      <a:endParaRPr lang="es-MX" sz="1400" b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5080" algn="ctr">
                        <a:lnSpc>
                          <a:spcPts val="1800"/>
                        </a:lnSpc>
                      </a:pPr>
                      <a:r>
                        <a:rPr lang="es-MX" sz="1400" b="0" spc="-5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F0/20-24</a:t>
                      </a:r>
                      <a:endParaRPr lang="es-MX" sz="1400" b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810" algn="ctr">
                        <a:lnSpc>
                          <a:spcPts val="1800"/>
                        </a:lnSpc>
                      </a:pPr>
                      <a:r>
                        <a:rPr lang="es-MX" sz="1400" b="0" spc="-5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193.168.1.144</a:t>
                      </a:r>
                      <a:endParaRPr lang="es-MX" sz="1400" b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5080" algn="ctr">
                        <a:lnSpc>
                          <a:spcPts val="1800"/>
                        </a:lnSpc>
                      </a:pPr>
                      <a:r>
                        <a:rPr lang="es-MX" sz="1400" b="0" spc="-5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255.255.255.248</a:t>
                      </a:r>
                      <a:endParaRPr lang="es-MX" sz="1400" b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59322335"/>
                  </a:ext>
                </a:extLst>
              </a:tr>
              <a:tr h="363855">
                <a:tc>
                  <a:txBody>
                    <a:bodyPr/>
                    <a:lstStyle/>
                    <a:p>
                      <a:pPr marL="5080" algn="ctr">
                        <a:lnSpc>
                          <a:spcPts val="1800"/>
                        </a:lnSpc>
                      </a:pPr>
                      <a:r>
                        <a:rPr lang="es-MX" sz="1400" b="1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Native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810" algn="ctr">
                        <a:lnSpc>
                          <a:spcPts val="1800"/>
                        </a:lnSpc>
                      </a:pPr>
                      <a:r>
                        <a:rPr lang="es-MX" sz="14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5080" algn="ctr">
                        <a:lnSpc>
                          <a:spcPts val="1800"/>
                        </a:lnSpc>
                      </a:pPr>
                      <a:r>
                        <a:rPr lang="es-MX" sz="14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No aplica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810" marR="0" lvl="0" indent="0" algn="ctr" defTabSz="914400" eaLnBrk="1" fontAlgn="auto" latinLnBrk="0" hangingPunct="1">
                        <a:lnSpc>
                          <a:spcPts val="18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sz="1400" b="0" spc="-5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193.168.1.152</a:t>
                      </a:r>
                      <a:endParaRPr lang="es-MX" sz="1400" b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5080" algn="ctr">
                        <a:lnSpc>
                          <a:spcPts val="1800"/>
                        </a:lnSpc>
                      </a:pPr>
                      <a:r>
                        <a:rPr lang="es-MX" sz="14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255.255.255.252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68639124"/>
                  </a:ext>
                </a:extLst>
              </a:tr>
            </a:tbl>
          </a:graphicData>
        </a:graphic>
      </p:graphicFrame>
      <p:sp>
        <p:nvSpPr>
          <p:cNvPr id="3" name="object 2">
            <a:extLst>
              <a:ext uri="{FF2B5EF4-FFF2-40B4-BE49-F238E27FC236}">
                <a16:creationId xmlns:a16="http://schemas.microsoft.com/office/drawing/2014/main" id="{971A254D-C5FF-A9A5-062C-50421163077C}"/>
              </a:ext>
            </a:extLst>
          </p:cNvPr>
          <p:cNvSpPr txBox="1"/>
          <p:nvPr/>
        </p:nvSpPr>
        <p:spPr>
          <a:xfrm>
            <a:off x="3276600" y="160126"/>
            <a:ext cx="5164455" cy="80021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algn="ctr">
              <a:lnSpc>
                <a:spcPct val="100000"/>
              </a:lnSpc>
            </a:pPr>
            <a:r>
              <a:rPr lang="es-ES" sz="3200" b="1" spc="-25" dirty="0">
                <a:latin typeface="Calibri"/>
                <a:cs typeface="Calibri"/>
              </a:rPr>
              <a:t>Configuración de VLANs</a:t>
            </a:r>
          </a:p>
          <a:p>
            <a:pPr marL="12700" algn="ctr">
              <a:lnSpc>
                <a:spcPct val="100000"/>
              </a:lnSpc>
            </a:pPr>
            <a:r>
              <a:rPr lang="es-ES" sz="2000" spc="-25" dirty="0">
                <a:latin typeface="Calibri"/>
                <a:cs typeface="Calibri"/>
              </a:rPr>
              <a:t>Switch</a:t>
            </a:r>
            <a:endParaRPr sz="2000" dirty="0">
              <a:latin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0066685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3513772" y="381000"/>
            <a:ext cx="5164455" cy="80021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algn="ctr">
              <a:lnSpc>
                <a:spcPct val="100000"/>
              </a:lnSpc>
            </a:pPr>
            <a:r>
              <a:rPr lang="es-ES" sz="3200" b="1" spc="-25" dirty="0">
                <a:latin typeface="Calibri"/>
                <a:cs typeface="Calibri"/>
              </a:rPr>
              <a:t>Configuración de VLANs </a:t>
            </a:r>
          </a:p>
          <a:p>
            <a:pPr marL="12700" algn="ctr">
              <a:lnSpc>
                <a:spcPct val="100000"/>
              </a:lnSpc>
            </a:pPr>
            <a:r>
              <a:rPr lang="es-ES" sz="2000" spc="-25" dirty="0">
                <a:latin typeface="Calibri"/>
                <a:cs typeface="Calibri"/>
              </a:rPr>
              <a:t>Comandos para el Switch</a:t>
            </a:r>
            <a:endParaRPr sz="2000" dirty="0">
              <a:latin typeface="Calibri"/>
              <a:cs typeface="Calibri"/>
            </a:endParaRPr>
          </a:p>
        </p:txBody>
      </p:sp>
      <p:sp>
        <p:nvSpPr>
          <p:cNvPr id="4" name="7 CuadroTexto">
            <a:extLst>
              <a:ext uri="{FF2B5EF4-FFF2-40B4-BE49-F238E27FC236}">
                <a16:creationId xmlns:a16="http://schemas.microsoft.com/office/drawing/2014/main" id="{6003FC0E-25B6-447D-86B1-50C83DB3D6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43000" y="1564602"/>
            <a:ext cx="6248400" cy="34476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>
              <a:lnSpc>
                <a:spcPct val="150000"/>
              </a:lnSpc>
              <a:spcAft>
                <a:spcPts val="600"/>
              </a:spcAft>
            </a:pPr>
            <a:r>
              <a:rPr lang="es-ES" sz="16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1. Creación de las VLANs con nombre</a:t>
            </a:r>
          </a:p>
          <a:p>
            <a:pPr lvl="1">
              <a:lnSpc>
                <a:spcPct val="150000"/>
              </a:lnSpc>
            </a:pPr>
            <a:r>
              <a:rPr lang="es-ES" sz="1600" b="1" dirty="0">
                <a:latin typeface="Arial" panose="020B0604020202020204" pitchFamily="34" charset="0"/>
                <a:cs typeface="Arial" panose="020B0604020202020204" pitchFamily="34" charset="0"/>
              </a:rPr>
              <a:t>vlan </a:t>
            </a:r>
            <a:r>
              <a:rPr lang="es-ES" sz="1600" dirty="0">
                <a:latin typeface="Arial" panose="020B0604020202020204" pitchFamily="34" charset="0"/>
                <a:cs typeface="Arial" panose="020B0604020202020204" pitchFamily="34" charset="0"/>
              </a:rPr>
              <a:t>VID</a:t>
            </a:r>
          </a:p>
          <a:p>
            <a:pPr lvl="1">
              <a:lnSpc>
                <a:spcPct val="150000"/>
              </a:lnSpc>
            </a:pPr>
            <a:r>
              <a:rPr lang="es-ES" sz="1600" b="1" dirty="0">
                <a:latin typeface="Arial" panose="020B0604020202020204" pitchFamily="34" charset="0"/>
                <a:cs typeface="Arial" panose="020B0604020202020204" pitchFamily="34" charset="0"/>
              </a:rPr>
              <a:t>name </a:t>
            </a:r>
            <a:r>
              <a:rPr lang="es-ES" sz="1600" dirty="0">
                <a:latin typeface="Arial" panose="020B0604020202020204" pitchFamily="34" charset="0"/>
                <a:cs typeface="Arial" panose="020B0604020202020204" pitchFamily="34" charset="0"/>
              </a:rPr>
              <a:t>NombreVLAN-asociadaVID</a:t>
            </a:r>
          </a:p>
          <a:p>
            <a:pPr lvl="1">
              <a:lnSpc>
                <a:spcPct val="150000"/>
              </a:lnSpc>
            </a:pPr>
            <a:r>
              <a:rPr lang="es-ES" sz="1600" b="1" dirty="0">
                <a:latin typeface="Arial" panose="020B0604020202020204" pitchFamily="34" charset="0"/>
                <a:cs typeface="Arial" panose="020B0604020202020204" pitchFamily="34" charset="0"/>
              </a:rPr>
              <a:t>exit</a:t>
            </a:r>
          </a:p>
          <a:p>
            <a:pPr>
              <a:lnSpc>
                <a:spcPct val="150000"/>
              </a:lnSpc>
            </a:pPr>
            <a:endParaRPr lang="es-E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s-ES" sz="16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2. Asignación de los </a:t>
            </a:r>
            <a:r>
              <a:rPr lang="es-ES" sz="1600" b="1" u="sng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puertos de acceso </a:t>
            </a:r>
            <a:r>
              <a:rPr lang="es-ES" sz="16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cada VLAN  VID</a:t>
            </a:r>
          </a:p>
          <a:p>
            <a:pPr lvl="1">
              <a:lnSpc>
                <a:spcPct val="150000"/>
              </a:lnSpc>
            </a:pPr>
            <a:r>
              <a:rPr lang="es-ES" sz="1600" b="1" dirty="0">
                <a:latin typeface="Arial" panose="020B0604020202020204" pitchFamily="34" charset="0"/>
                <a:cs typeface="Arial" panose="020B0604020202020204" pitchFamily="34" charset="0"/>
              </a:rPr>
              <a:t>interface </a:t>
            </a:r>
            <a:r>
              <a:rPr lang="es-ES" sz="1600" dirty="0">
                <a:latin typeface="Arial" panose="020B0604020202020204" pitchFamily="34" charset="0"/>
                <a:cs typeface="Arial" panose="020B0604020202020204" pitchFamily="34" charset="0"/>
              </a:rPr>
              <a:t>Nombre_Interfaz</a:t>
            </a:r>
          </a:p>
          <a:p>
            <a:pPr lvl="1">
              <a:lnSpc>
                <a:spcPct val="150000"/>
              </a:lnSpc>
            </a:pPr>
            <a:r>
              <a:rPr lang="es-ES" sz="1600" b="1" dirty="0">
                <a:latin typeface="Arial" panose="020B0604020202020204" pitchFamily="34" charset="0"/>
                <a:cs typeface="Arial" panose="020B0604020202020204" pitchFamily="34" charset="0"/>
              </a:rPr>
              <a:t>switchport mode </a:t>
            </a:r>
            <a:r>
              <a:rPr lang="es-ES" sz="16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access</a:t>
            </a:r>
          </a:p>
          <a:p>
            <a:pPr lvl="1">
              <a:lnSpc>
                <a:spcPct val="150000"/>
              </a:lnSpc>
            </a:pPr>
            <a:r>
              <a:rPr lang="es-ES" sz="1600" b="1" dirty="0">
                <a:latin typeface="Arial" panose="020B0604020202020204" pitchFamily="34" charset="0"/>
                <a:cs typeface="Arial" panose="020B0604020202020204" pitchFamily="34" charset="0"/>
              </a:rPr>
              <a:t>switchport access vlan  </a:t>
            </a:r>
            <a:r>
              <a:rPr lang="es-ES" sz="1600" dirty="0">
                <a:latin typeface="Arial" panose="020B0604020202020204" pitchFamily="34" charset="0"/>
                <a:cs typeface="Arial" panose="020B0604020202020204" pitchFamily="34" charset="0"/>
              </a:rPr>
              <a:t>VID</a:t>
            </a:r>
            <a:endParaRPr lang="es-MX" sz="1800" b="1" dirty="0">
              <a:solidFill>
                <a:schemeClr val="bg2">
                  <a:lumMod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7 CuadroTexto">
            <a:extLst>
              <a:ext uri="{FF2B5EF4-FFF2-40B4-BE49-F238E27FC236}">
                <a16:creationId xmlns:a16="http://schemas.microsoft.com/office/drawing/2014/main" id="{7588CF2B-42DE-4476-B511-687DB7E195D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6200" y="3488205"/>
            <a:ext cx="3810000" cy="15240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es-ES" sz="16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3. Definición del </a:t>
            </a:r>
            <a:r>
              <a:rPr lang="es-ES" sz="1600" b="1" u="sng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puerto troncal</a:t>
            </a:r>
          </a:p>
          <a:p>
            <a:pPr lvl="1">
              <a:lnSpc>
                <a:spcPct val="150000"/>
              </a:lnSpc>
            </a:pPr>
            <a:r>
              <a:rPr lang="es-ES" sz="1600" b="1" dirty="0">
                <a:latin typeface="Arial" panose="020B0604020202020204" pitchFamily="34" charset="0"/>
                <a:cs typeface="Arial" panose="020B0604020202020204" pitchFamily="34" charset="0"/>
              </a:rPr>
              <a:t>interface  </a:t>
            </a:r>
            <a:r>
              <a:rPr lang="es-ES" sz="1600" dirty="0">
                <a:latin typeface="Arial" panose="020B0604020202020204" pitchFamily="34" charset="0"/>
                <a:cs typeface="Arial" panose="020B0604020202020204" pitchFamily="34" charset="0"/>
              </a:rPr>
              <a:t>Nombre_Interfaz</a:t>
            </a:r>
          </a:p>
          <a:p>
            <a:pPr lvl="1">
              <a:lnSpc>
                <a:spcPct val="150000"/>
              </a:lnSpc>
            </a:pPr>
            <a:r>
              <a:rPr lang="es-ES" sz="1600" b="1" dirty="0">
                <a:latin typeface="Arial" panose="020B0604020202020204" pitchFamily="34" charset="0"/>
                <a:cs typeface="Arial" panose="020B0604020202020204" pitchFamily="34" charset="0"/>
              </a:rPr>
              <a:t>switchport mode </a:t>
            </a:r>
            <a:r>
              <a:rPr lang="es-ES" sz="16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trunk</a:t>
            </a:r>
          </a:p>
          <a:p>
            <a:pPr lvl="1">
              <a:lnSpc>
                <a:spcPct val="150000"/>
              </a:lnSpc>
            </a:pPr>
            <a:r>
              <a:rPr lang="es-ES" sz="1600" b="1" dirty="0">
                <a:latin typeface="Arial" panose="020B0604020202020204" pitchFamily="34" charset="0"/>
                <a:cs typeface="Arial" panose="020B0604020202020204" pitchFamily="34" charset="0"/>
              </a:rPr>
              <a:t>no shut</a:t>
            </a:r>
            <a:endParaRPr lang="es-MX" sz="1800" b="1" dirty="0">
              <a:solidFill>
                <a:schemeClr val="bg2">
                  <a:lumMod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903876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524000" y="266581"/>
            <a:ext cx="9103310" cy="80021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algn="ctr">
              <a:lnSpc>
                <a:spcPct val="100000"/>
              </a:lnSpc>
            </a:pPr>
            <a:r>
              <a:rPr lang="es-ES" sz="3200" b="1" spc="-25" dirty="0">
                <a:latin typeface="Calibri"/>
                <a:cs typeface="Calibri"/>
              </a:rPr>
              <a:t>Configuración de la VLAN1 de </a:t>
            </a:r>
            <a:r>
              <a:rPr lang="es-ES" sz="3200" b="1" spc="-25" dirty="0" err="1">
                <a:latin typeface="Calibri"/>
                <a:cs typeface="Calibri"/>
              </a:rPr>
              <a:t>SCompany</a:t>
            </a:r>
            <a:endParaRPr lang="es-ES" sz="3200" b="1" spc="-25" dirty="0">
              <a:latin typeface="Calibri"/>
              <a:cs typeface="Calibri"/>
            </a:endParaRPr>
          </a:p>
          <a:p>
            <a:pPr marL="12700" algn="ctr">
              <a:lnSpc>
                <a:spcPct val="100000"/>
              </a:lnSpc>
            </a:pPr>
            <a:r>
              <a:rPr lang="es-ES" sz="2000" spc="-25" dirty="0">
                <a:latin typeface="Calibri"/>
                <a:cs typeface="Calibri"/>
              </a:rPr>
              <a:t>Switch</a:t>
            </a:r>
            <a:endParaRPr sz="2000" dirty="0">
              <a:latin typeface="Calibri"/>
              <a:cs typeface="Calibri"/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833310D8-FB16-4469-B58E-2A51729588EE}"/>
              </a:ext>
            </a:extLst>
          </p:cNvPr>
          <p:cNvSpPr txBox="1"/>
          <p:nvPr/>
        </p:nvSpPr>
        <p:spPr>
          <a:xfrm>
            <a:off x="906816" y="1317467"/>
            <a:ext cx="10378365" cy="324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72390" lvl="0" algn="just">
              <a:lnSpc>
                <a:spcPts val="1800"/>
              </a:lnSpc>
              <a:spcAft>
                <a:spcPts val="0"/>
              </a:spcAft>
              <a:tabLst>
                <a:tab pos="457835" algn="l"/>
              </a:tabLst>
            </a:pPr>
            <a:r>
              <a:rPr lang="es-MX" sz="18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Configurar</a:t>
            </a:r>
            <a:r>
              <a:rPr lang="es-MX" sz="1800" spc="9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s-MX" sz="1800" spc="5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la</a:t>
            </a:r>
            <a:r>
              <a:rPr lang="es-MX" sz="1800" spc="95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s-MX" sz="1800" b="1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VLAN1 </a:t>
            </a:r>
            <a:r>
              <a:rPr lang="es-MX" sz="18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del switch </a:t>
            </a:r>
            <a:r>
              <a:rPr lang="es-MX" sz="1800" b="1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SCompany</a:t>
            </a:r>
            <a:r>
              <a:rPr lang="es-MX" sz="1800" b="1" spc="25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s-MX" sz="1800" spc="-5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con</a:t>
            </a:r>
            <a:r>
              <a:rPr lang="es-MX" sz="18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la primera </a:t>
            </a:r>
            <a:r>
              <a:rPr lang="es-MX" dirty="0"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IP de la subred</a:t>
            </a:r>
            <a:r>
              <a:rPr lang="es-MX" sz="1800" spc="5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s-MX" sz="18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y</a:t>
            </a:r>
            <a:r>
              <a:rPr lang="es-MX" sz="1800" spc="-15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s-MX" sz="1800" spc="-5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el</a:t>
            </a:r>
            <a:r>
              <a:rPr lang="es-MX" sz="1800" spc="5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s-MX" sz="1800" b="1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default </a:t>
            </a:r>
            <a:r>
              <a:rPr lang="es-MX" sz="1800" b="1" spc="-5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Gateway</a:t>
            </a:r>
            <a:r>
              <a:rPr lang="es-MX" sz="1800" spc="-5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  <a:endParaRPr lang="es-MX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B7ADEE1-36F2-3C08-723E-B5770ED9B4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8635" y="1828800"/>
            <a:ext cx="8714730" cy="47765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95397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Diagrama&#10;&#10;Descripción generada automáticamente">
            <a:extLst>
              <a:ext uri="{FF2B5EF4-FFF2-40B4-BE49-F238E27FC236}">
                <a16:creationId xmlns:a16="http://schemas.microsoft.com/office/drawing/2014/main" id="{56250915-8653-4CAC-B01C-81818B6BAF4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9200" y="1294041"/>
            <a:ext cx="2895600" cy="2173059"/>
          </a:xfrm>
          <a:prstGeom prst="rect">
            <a:avLst/>
          </a:prstGeom>
        </p:spPr>
      </p:pic>
      <p:sp>
        <p:nvSpPr>
          <p:cNvPr id="8" name="Rectangle 2"/>
          <p:cNvSpPr txBox="1">
            <a:spLocks noChangeArrowheads="1"/>
          </p:cNvSpPr>
          <p:nvPr/>
        </p:nvSpPr>
        <p:spPr>
          <a:xfrm>
            <a:off x="1524000" y="76200"/>
            <a:ext cx="8892480" cy="685800"/>
          </a:xfrm>
          <a:prstGeom prst="rect">
            <a:avLst/>
          </a:prstGeom>
        </p:spPr>
        <p:txBody>
          <a:bodyPr vert="horz" lIns="92075" tIns="46038" rIns="92075" bIns="46038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s-ES_tradnl" sz="3200" dirty="0">
                <a:solidFill>
                  <a:srgbClr val="3333CC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 </a:t>
            </a:r>
            <a:r>
              <a:rPr lang="es-ES_tradnl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Pruebas de conectividad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D6073C0-7C9A-64B9-ED41-54F068803B91}"/>
              </a:ext>
            </a:extLst>
          </p:cNvPr>
          <p:cNvSpPr txBox="1"/>
          <p:nvPr/>
        </p:nvSpPr>
        <p:spPr>
          <a:xfrm>
            <a:off x="826740" y="842431"/>
            <a:ext cx="8393460" cy="57092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s-MX" dirty="0"/>
              <a:t>Al terminar la configuración realiza las siguientes pruebas de conectividad:</a:t>
            </a:r>
          </a:p>
          <a:p>
            <a:r>
              <a:rPr lang="es-MX" b="1" dirty="0">
                <a:solidFill>
                  <a:srgbClr val="FF0000"/>
                </a:solidFill>
              </a:rPr>
              <a:t>Pruebas de conectividad interna:</a:t>
            </a:r>
          </a:p>
          <a:p>
            <a:r>
              <a:rPr lang="es-MX" b="1" dirty="0"/>
              <a:t>De                     Hacia	 Dirección IP	Ping </a:t>
            </a:r>
            <a:r>
              <a:rPr lang="es-MX" b="1" dirty="0" err="1"/>
              <a:t>results</a:t>
            </a:r>
            <a:r>
              <a:rPr lang="es-MX" b="1" dirty="0"/>
              <a:t> (</a:t>
            </a:r>
            <a:r>
              <a:rPr lang="es-MX" b="1" dirty="0" err="1"/>
              <a:t>Fail</a:t>
            </a:r>
            <a:r>
              <a:rPr lang="es-MX" b="1" dirty="0"/>
              <a:t> / </a:t>
            </a:r>
            <a:r>
              <a:rPr lang="es-MX" b="1" dirty="0" err="1"/>
              <a:t>Success</a:t>
            </a:r>
            <a:r>
              <a:rPr lang="es-MX" b="1" dirty="0"/>
              <a:t>)</a:t>
            </a:r>
          </a:p>
          <a:p>
            <a:r>
              <a:rPr lang="es-MX" dirty="0"/>
              <a:t>PVenta1            Manager</a:t>
            </a:r>
          </a:p>
          <a:p>
            <a:r>
              <a:rPr lang="es-MX" dirty="0"/>
              <a:t>User01              User02</a:t>
            </a:r>
          </a:p>
          <a:p>
            <a:r>
              <a:rPr lang="es-MX" dirty="0"/>
              <a:t>Printer1            pisos.com         193.168.1.145</a:t>
            </a:r>
          </a:p>
          <a:p>
            <a:r>
              <a:rPr lang="es-MX" dirty="0"/>
              <a:t>PVenta1            User01</a:t>
            </a:r>
          </a:p>
          <a:p>
            <a:r>
              <a:rPr lang="es-MX" dirty="0"/>
              <a:t>PVenta1            Printer1</a:t>
            </a:r>
          </a:p>
          <a:p>
            <a:r>
              <a:rPr lang="es-MX" dirty="0"/>
              <a:t>PVenta1            </a:t>
            </a:r>
            <a:r>
              <a:rPr lang="es-MX" dirty="0" err="1"/>
              <a:t>SCompany</a:t>
            </a:r>
            <a:r>
              <a:rPr lang="es-MX" dirty="0"/>
              <a:t>        193.168.1.153</a:t>
            </a:r>
          </a:p>
          <a:p>
            <a:r>
              <a:rPr lang="es-MX" dirty="0"/>
              <a:t> </a:t>
            </a:r>
          </a:p>
          <a:p>
            <a:r>
              <a:rPr lang="es-MX" b="1" dirty="0">
                <a:solidFill>
                  <a:srgbClr val="FF0000"/>
                </a:solidFill>
              </a:rPr>
              <a:t>Pruebas de conectividad externa:</a:t>
            </a:r>
          </a:p>
          <a:p>
            <a:r>
              <a:rPr lang="es-MX" b="1" dirty="0"/>
              <a:t>De                     Hacia	Dirección IP	Web browser </a:t>
            </a:r>
            <a:r>
              <a:rPr lang="es-MX" b="1" dirty="0" err="1"/>
              <a:t>results</a:t>
            </a:r>
            <a:r>
              <a:rPr lang="es-MX" b="1" dirty="0"/>
              <a:t> (</a:t>
            </a:r>
            <a:r>
              <a:rPr lang="es-MX" b="1" dirty="0" err="1"/>
              <a:t>Fail</a:t>
            </a:r>
            <a:r>
              <a:rPr lang="es-MX" b="1" dirty="0"/>
              <a:t> / </a:t>
            </a:r>
            <a:r>
              <a:rPr lang="es-MX" b="1" dirty="0" err="1"/>
              <a:t>Success</a:t>
            </a:r>
            <a:r>
              <a:rPr lang="es-MX" b="1" dirty="0"/>
              <a:t>)</a:t>
            </a:r>
          </a:p>
          <a:p>
            <a:r>
              <a:rPr lang="es-MX" dirty="0"/>
              <a:t>PVenta1	        CNN.com	151.101.193.65	</a:t>
            </a:r>
          </a:p>
          <a:p>
            <a:r>
              <a:rPr lang="es-MX" dirty="0"/>
              <a:t>User01	        CNN.com	151.101.193.65 	</a:t>
            </a:r>
          </a:p>
          <a:p>
            <a:r>
              <a:rPr lang="es-MX" dirty="0"/>
              <a:t>pisos.com        CNN.com	151.101.193.65</a:t>
            </a:r>
          </a:p>
          <a:p>
            <a:r>
              <a:rPr lang="es-MX" dirty="0"/>
              <a:t>CNN.com         pisos.com         193.168.1.145</a:t>
            </a:r>
          </a:p>
          <a:p>
            <a:endParaRPr lang="es-MX" dirty="0"/>
          </a:p>
          <a:p>
            <a:r>
              <a:rPr lang="es-MX" b="1" dirty="0">
                <a:solidFill>
                  <a:srgbClr val="FF0000"/>
                </a:solidFill>
              </a:rPr>
              <a:t>Pruebas por acceso remoto:</a:t>
            </a:r>
          </a:p>
          <a:p>
            <a:r>
              <a:rPr lang="es-MX" b="1" dirty="0"/>
              <a:t>De                     Hacia	Dirección IP	telnet </a:t>
            </a:r>
            <a:r>
              <a:rPr lang="es-MX" b="1" dirty="0" err="1"/>
              <a:t>results</a:t>
            </a:r>
            <a:r>
              <a:rPr lang="es-MX" b="1" dirty="0"/>
              <a:t> (</a:t>
            </a:r>
            <a:r>
              <a:rPr lang="es-MX" b="1" dirty="0" err="1"/>
              <a:t>Fail</a:t>
            </a:r>
            <a:r>
              <a:rPr lang="es-MX" b="1" dirty="0"/>
              <a:t> / </a:t>
            </a:r>
            <a:r>
              <a:rPr lang="es-MX" b="1" dirty="0" err="1"/>
              <a:t>Success</a:t>
            </a:r>
            <a:r>
              <a:rPr lang="es-MX" b="1" dirty="0"/>
              <a:t>)</a:t>
            </a:r>
          </a:p>
          <a:p>
            <a:r>
              <a:rPr lang="es-MX" dirty="0"/>
              <a:t>CNN.com         </a:t>
            </a:r>
            <a:r>
              <a:rPr lang="es-MX" dirty="0" err="1"/>
              <a:t>SCompany</a:t>
            </a:r>
            <a:r>
              <a:rPr lang="es-MX" dirty="0"/>
              <a:t>         193.168.1.153</a:t>
            </a:r>
          </a:p>
        </p:txBody>
      </p:sp>
    </p:spTree>
    <p:extLst>
      <p:ext uri="{BB962C8B-B14F-4D97-AF65-F5344CB8AC3E}">
        <p14:creationId xmlns:p14="http://schemas.microsoft.com/office/powerpoint/2010/main" val="29008574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8871EE-F098-8474-4C9F-0EE5D0974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2181D16-D8F6-9783-A7F2-27874FF6EFA3}"/>
              </a:ext>
            </a:extLst>
          </p:cNvPr>
          <p:cNvSpPr txBox="1"/>
          <p:nvPr/>
        </p:nvSpPr>
        <p:spPr>
          <a:xfrm>
            <a:off x="990600" y="914400"/>
            <a:ext cx="10363200" cy="5596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  <a:tabLst>
                <a:tab pos="594360" algn="l"/>
                <a:tab pos="449580" algn="l"/>
              </a:tabLst>
            </a:pPr>
            <a:r>
              <a:rPr lang="es-ES" dirty="0">
                <a:latin typeface="Arial" panose="020B0604020202020204" pitchFamily="34" charset="0"/>
                <a:cs typeface="Arial" panose="020B0604020202020204" pitchFamily="34" charset="0"/>
              </a:rPr>
              <a:t>Configurar el nombre de dominio: </a:t>
            </a:r>
            <a:r>
              <a:rPr lang="es-ES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pisos.com</a:t>
            </a:r>
            <a:endParaRPr lang="es-ES" dirty="0">
              <a:solidFill>
                <a:schemeClr val="accent6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  <a:tabLst>
                <a:tab pos="594360" algn="l"/>
                <a:tab pos="449580" algn="l"/>
              </a:tabLst>
            </a:pPr>
            <a:r>
              <a:rPr lang="es-ES" dirty="0">
                <a:latin typeface="Arial" panose="020B0604020202020204" pitchFamily="34" charset="0"/>
                <a:cs typeface="Arial" panose="020B0604020202020204" pitchFamily="34" charset="0"/>
              </a:rPr>
              <a:t>Configurar el método de la clave de cifrado: </a:t>
            </a:r>
            <a:r>
              <a:rPr lang="es-ES" b="1" dirty="0" err="1">
                <a:latin typeface="Arial" panose="020B0604020202020204" pitchFamily="34" charset="0"/>
                <a:cs typeface="Arial" panose="020B0604020202020204" pitchFamily="34" charset="0"/>
              </a:rPr>
              <a:t>rsa</a:t>
            </a:r>
            <a:r>
              <a:rPr lang="es-ES" dirty="0">
                <a:latin typeface="Arial" panose="020B0604020202020204" pitchFamily="34" charset="0"/>
                <a:cs typeface="Arial" panose="020B0604020202020204" pitchFamily="34" charset="0"/>
              </a:rPr>
              <a:t> con </a:t>
            </a:r>
            <a:r>
              <a:rPr lang="es-ES" b="1" dirty="0">
                <a:latin typeface="Arial" panose="020B0604020202020204" pitchFamily="34" charset="0"/>
                <a:cs typeface="Arial" panose="020B0604020202020204" pitchFamily="34" charset="0"/>
              </a:rPr>
              <a:t>1024</a:t>
            </a:r>
            <a:r>
              <a:rPr lang="es-ES" dirty="0">
                <a:latin typeface="Arial" panose="020B0604020202020204" pitchFamily="34" charset="0"/>
                <a:cs typeface="Arial" panose="020B0604020202020204" pitchFamily="34" charset="0"/>
              </a:rPr>
              <a:t> bits</a:t>
            </a: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  <a:tabLst>
                <a:tab pos="594360" algn="l"/>
                <a:tab pos="449580" algn="l"/>
              </a:tabLst>
            </a:pPr>
            <a:r>
              <a:rPr lang="es-ES" dirty="0">
                <a:latin typeface="Arial" panose="020B0604020202020204" pitchFamily="34" charset="0"/>
                <a:cs typeface="Arial" panose="020B0604020202020204" pitchFamily="34" charset="0"/>
              </a:rPr>
              <a:t>Configurar un nombre de usuario y </a:t>
            </a:r>
            <a:r>
              <a:rPr lang="es-ES" dirty="0" err="1">
                <a:latin typeface="Arial" panose="020B0604020202020204" pitchFamily="34" charset="0"/>
                <a:cs typeface="Arial" panose="020B0604020202020204" pitchFamily="34" charset="0"/>
              </a:rPr>
              <a:t>password</a:t>
            </a:r>
            <a:r>
              <a:rPr lang="es-ES" dirty="0">
                <a:latin typeface="Arial" panose="020B0604020202020204" pitchFamily="34" charset="0"/>
                <a:cs typeface="Arial" panose="020B0604020202020204" pitchFamily="34" charset="0"/>
              </a:rPr>
              <a:t> de la base de datos local con un nivel de privilegio 15, que </a:t>
            </a:r>
            <a:r>
              <a:rPr lang="es-MX" dirty="0">
                <a:latin typeface="Arial" panose="020B0604020202020204" pitchFamily="34" charset="0"/>
                <a:cs typeface="Arial" panose="020B0604020202020204" pitchFamily="34" charset="0"/>
              </a:rPr>
              <a:t>otorga derechos de administrador al usuario.</a:t>
            </a:r>
            <a:endParaRPr lang="es-E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00100" lvl="1" indent="-342900" algn="just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594360" algn="l"/>
                <a:tab pos="449580" algn="l"/>
              </a:tabLst>
            </a:pPr>
            <a:r>
              <a:rPr lang="es-ES" dirty="0">
                <a:latin typeface="Arial" panose="020B0604020202020204" pitchFamily="34" charset="0"/>
                <a:cs typeface="Arial" panose="020B0604020202020204" pitchFamily="34" charset="0"/>
              </a:rPr>
              <a:t>Nombre : </a:t>
            </a:r>
            <a:r>
              <a:rPr lang="es-ES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administrador</a:t>
            </a:r>
          </a:p>
          <a:p>
            <a:pPr marL="800100" lvl="1" indent="-342900" algn="just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594360" algn="l"/>
                <a:tab pos="449580" algn="l"/>
              </a:tabLst>
            </a:pPr>
            <a:r>
              <a:rPr lang="es-ES" dirty="0" err="1">
                <a:latin typeface="Arial" panose="020B0604020202020204" pitchFamily="34" charset="0"/>
                <a:cs typeface="Arial" panose="020B0604020202020204" pitchFamily="34" charset="0"/>
              </a:rPr>
              <a:t>Password</a:t>
            </a:r>
            <a:r>
              <a:rPr lang="es-ES" dirty="0">
                <a:latin typeface="Arial" panose="020B0604020202020204" pitchFamily="34" charset="0"/>
                <a:cs typeface="Arial" panose="020B0604020202020204" pitchFamily="34" charset="0"/>
              </a:rPr>
              <a:t> : </a:t>
            </a:r>
            <a:r>
              <a:rPr lang="es-ES" b="1" dirty="0" err="1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secretpass</a:t>
            </a:r>
            <a:endParaRPr lang="es-MX" b="1" dirty="0">
              <a:solidFill>
                <a:schemeClr val="accent6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50000"/>
              </a:lnSpc>
              <a:spcBef>
                <a:spcPts val="600"/>
              </a:spcBef>
              <a:buFont typeface="+mj-lt"/>
              <a:buAutoNum type="arabicPeriod"/>
              <a:tabLst>
                <a:tab pos="594360" algn="l"/>
                <a:tab pos="449580" algn="l"/>
              </a:tabLst>
            </a:pPr>
            <a:r>
              <a:rPr lang="es-ES" dirty="0">
                <a:latin typeface="Arial" panose="020B0604020202020204" pitchFamily="34" charset="0"/>
                <a:cs typeface="Arial" panose="020B0604020202020204" pitchFamily="34" charset="0"/>
              </a:rPr>
              <a:t>Habilitar </a:t>
            </a:r>
            <a:r>
              <a:rPr lang="es-ES" b="1" dirty="0">
                <a:latin typeface="Arial" panose="020B0604020202020204" pitchFamily="34" charset="0"/>
                <a:cs typeface="Arial" panose="020B0604020202020204" pitchFamily="34" charset="0"/>
              </a:rPr>
              <a:t>SSH</a:t>
            </a:r>
            <a:r>
              <a:rPr lang="es-ES" dirty="0">
                <a:latin typeface="Arial" panose="020B0604020202020204" pitchFamily="34" charset="0"/>
                <a:cs typeface="Arial" panose="020B0604020202020204" pitchFamily="34" charset="0"/>
              </a:rPr>
              <a:t> en las líneas VTY 0 15 mediante el comando </a:t>
            </a:r>
            <a:r>
              <a:rPr lang="es-ES" b="1" dirty="0" err="1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transport</a:t>
            </a:r>
            <a:r>
              <a:rPr lang="es-ES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input </a:t>
            </a:r>
            <a:r>
              <a:rPr lang="es-ES" dirty="0">
                <a:latin typeface="Arial" panose="020B0604020202020204" pitchFamily="34" charset="0"/>
                <a:cs typeface="Arial" panose="020B0604020202020204" pitchFamily="34" charset="0"/>
              </a:rPr>
              <a:t>y cambie el método de inicio de sesión para utilizar la base de datos local para la verificación del usuario</a:t>
            </a:r>
          </a:p>
          <a:p>
            <a:pPr marL="342900" indent="-342900" algn="just">
              <a:lnSpc>
                <a:spcPct val="150000"/>
              </a:lnSpc>
              <a:spcBef>
                <a:spcPts val="600"/>
              </a:spcBef>
              <a:buFont typeface="+mj-lt"/>
              <a:buAutoNum type="arabicPeriod"/>
              <a:tabLst>
                <a:tab pos="594360" algn="l"/>
                <a:tab pos="449580" algn="l"/>
              </a:tabLst>
            </a:pPr>
            <a:r>
              <a:rPr lang="es-ES" dirty="0">
                <a:latin typeface="Arial" panose="020B0604020202020204" pitchFamily="34" charset="0"/>
                <a:cs typeface="Arial" panose="020B0604020202020204" pitchFamily="34" charset="0"/>
              </a:rPr>
              <a:t>Establecer una conexión SSH con el switch </a:t>
            </a:r>
            <a:r>
              <a:rPr lang="es-ES" b="1" dirty="0" err="1">
                <a:latin typeface="Arial" panose="020B0604020202020204" pitchFamily="34" charset="0"/>
                <a:cs typeface="Arial" panose="020B0604020202020204" pitchFamily="34" charset="0"/>
              </a:rPr>
              <a:t>SCompany</a:t>
            </a:r>
            <a:r>
              <a:rPr lang="es-ES" b="1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es-ES" dirty="0">
                <a:latin typeface="Arial" panose="020B0604020202020204" pitchFamily="34" charset="0"/>
                <a:cs typeface="Arial" panose="020B0604020202020204" pitchFamily="34" charset="0"/>
              </a:rPr>
              <a:t>Acceda remotamente a </a:t>
            </a:r>
            <a:r>
              <a:rPr lang="es-ES" b="1" dirty="0" err="1">
                <a:latin typeface="Arial" panose="020B0604020202020204" pitchFamily="34" charset="0"/>
                <a:cs typeface="Arial" panose="020B0604020202020204" pitchFamily="34" charset="0"/>
              </a:rPr>
              <a:t>SCompany</a:t>
            </a:r>
            <a:r>
              <a:rPr lang="es-E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" dirty="0">
                <a:latin typeface="Arial" panose="020B0604020202020204" pitchFamily="34" charset="0"/>
                <a:cs typeface="Arial" panose="020B0604020202020204" pitchFamily="34" charset="0"/>
              </a:rPr>
              <a:t>desde el servidor </a:t>
            </a:r>
            <a:r>
              <a:rPr lang="es-ES" b="1" dirty="0">
                <a:latin typeface="Arial" panose="020B0604020202020204" pitchFamily="34" charset="0"/>
                <a:cs typeface="Arial" panose="020B0604020202020204" pitchFamily="34" charset="0"/>
              </a:rPr>
              <a:t>CNN.com </a:t>
            </a:r>
            <a:r>
              <a:rPr lang="es-ES" dirty="0">
                <a:latin typeface="Arial" panose="020B0604020202020204" pitchFamily="34" charset="0"/>
                <a:cs typeface="Arial" panose="020B0604020202020204" pitchFamily="34" charset="0"/>
              </a:rPr>
              <a:t>con el comando SSH. </a:t>
            </a:r>
            <a:r>
              <a:rPr lang="es-MX" dirty="0">
                <a:latin typeface="Arial" panose="020B0604020202020204" pitchFamily="34" charset="0"/>
                <a:cs typeface="Arial" panose="020B0604020202020204" pitchFamily="34" charset="0"/>
              </a:rPr>
              <a:t>Use el nombre de usuario </a:t>
            </a:r>
            <a:r>
              <a:rPr lang="es-MX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administrador</a:t>
            </a:r>
            <a:r>
              <a:rPr lang="es-MX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dirty="0">
                <a:latin typeface="Arial" panose="020B0604020202020204" pitchFamily="34" charset="0"/>
                <a:cs typeface="Arial" panose="020B0604020202020204" pitchFamily="34" charset="0"/>
              </a:rPr>
              <a:t>y la contraseña </a:t>
            </a:r>
            <a:r>
              <a:rPr lang="es-MX" b="1" dirty="0" err="1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secretpass</a:t>
            </a:r>
            <a:r>
              <a:rPr lang="es-MX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r>
              <a:rPr lang="es-MX" dirty="0">
                <a:latin typeface="Arial" panose="020B0604020202020204" pitchFamily="34" charset="0"/>
                <a:cs typeface="Arial" panose="020B0604020202020204" pitchFamily="34" charset="0"/>
              </a:rPr>
              <a:t> En la línea de comandos (</a:t>
            </a:r>
            <a:r>
              <a:rPr lang="es-MX" dirty="0" err="1">
                <a:latin typeface="Arial" panose="020B0604020202020204" pitchFamily="34" charset="0"/>
                <a:cs typeface="Arial" panose="020B0604020202020204" pitchFamily="34" charset="0"/>
              </a:rPr>
              <a:t>Command</a:t>
            </a:r>
            <a:r>
              <a:rPr lang="es-MX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dirty="0" err="1">
                <a:latin typeface="Arial" panose="020B0604020202020204" pitchFamily="34" charset="0"/>
                <a:cs typeface="Arial" panose="020B0604020202020204" pitchFamily="34" charset="0"/>
              </a:rPr>
              <a:t>Prompt</a:t>
            </a:r>
            <a:r>
              <a:rPr lang="es-MX" dirty="0">
                <a:latin typeface="Arial" panose="020B0604020202020204" pitchFamily="34" charset="0"/>
                <a:cs typeface="Arial" panose="020B0604020202020204" pitchFamily="34" charset="0"/>
              </a:rPr>
              <a:t>) del servidor, utiliza el siguiente comando: </a:t>
            </a:r>
          </a:p>
          <a:p>
            <a:pPr lvl="2">
              <a:lnSpc>
                <a:spcPct val="150000"/>
              </a:lnSpc>
              <a:tabLst>
                <a:tab pos="593725" algn="l"/>
                <a:tab pos="449263" algn="l"/>
                <a:tab pos="2058988" algn="l"/>
              </a:tabLst>
            </a:pP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ssh –l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administrador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193.168.1.153</a:t>
            </a:r>
            <a:endParaRPr lang="es-MX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9B77C13E-D479-FACE-F2A6-56763E1120B8}"/>
              </a:ext>
            </a:extLst>
          </p:cNvPr>
          <p:cNvSpPr txBox="1">
            <a:spLocks noChangeArrowheads="1"/>
          </p:cNvSpPr>
          <p:nvPr/>
        </p:nvSpPr>
        <p:spPr>
          <a:xfrm>
            <a:off x="1524000" y="-22412"/>
            <a:ext cx="8892480" cy="1143000"/>
          </a:xfrm>
          <a:prstGeom prst="rect">
            <a:avLst/>
          </a:prstGeom>
        </p:spPr>
        <p:txBody>
          <a:bodyPr vert="horz" lIns="92075" tIns="46038" rIns="92075" bIns="46038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s-ES_tradnl" sz="3200" dirty="0">
                <a:solidFill>
                  <a:srgbClr val="3333CC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 </a:t>
            </a:r>
            <a:r>
              <a:rPr lang="es-ES_tradnl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Configuración del switch para acceso por </a:t>
            </a:r>
            <a:r>
              <a:rPr lang="es-ES_tradnl" sz="3200" b="1" dirty="0" err="1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ssh</a:t>
            </a:r>
            <a:endParaRPr lang="es-ES_tradnl" sz="3200" b="1" dirty="0">
              <a:solidFill>
                <a:schemeClr val="accent4">
                  <a:lumMod val="50000"/>
                </a:schemeClr>
              </a:solidFill>
              <a:effectLst>
                <a:outerShdw blurRad="38100" dist="38100" dir="2700000" algn="tl">
                  <a:srgbClr val="C0C0C0"/>
                </a:outerShdw>
              </a:effectLst>
              <a:latin typeface="Dom Casu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47517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462C1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4460</TotalTime>
  <Words>1146</Words>
  <Application>Microsoft Office PowerPoint</Application>
  <PresentationFormat>Panorámica</PresentationFormat>
  <Paragraphs>152</Paragraphs>
  <Slides>16</Slides>
  <Notes>14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2" baseType="lpstr">
      <vt:lpstr>Arial</vt:lpstr>
      <vt:lpstr>Calibri</vt:lpstr>
      <vt:lpstr>Courier New</vt:lpstr>
      <vt:lpstr>Dom Casual</vt:lpstr>
      <vt:lpstr>Symbol</vt:lpstr>
      <vt:lpstr>Office Theme</vt:lpstr>
      <vt:lpstr>TC 2006B  Interconexión de dispositivos</vt:lpstr>
      <vt:lpstr>Caso “Pisos y más”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José Oscar Hernández Pérez</dc:creator>
  <cp:lastModifiedBy>Lizethe Pérez Fuertes</cp:lastModifiedBy>
  <cp:revision>117</cp:revision>
  <cp:lastPrinted>2023-11-21T15:56:19Z</cp:lastPrinted>
  <dcterms:created xsi:type="dcterms:W3CDTF">2021-02-01T12:33:05Z</dcterms:created>
  <dcterms:modified xsi:type="dcterms:W3CDTF">2026-03-02T18:52:10Z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2020-11-04T00:00:00Z</vt:filetime>
  </property>
  <property fmtid="{D5CDD505-2E9C-101B-9397-08002B2CF9AE}" pid="3" name="LastSaved">
    <vt:filetime>2021-02-01T00:00:00Z</vt:filetime>
  </property>
</Properties>
</file>